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28.svg" ContentType="image/svg+xml"/>
  <Override PartName="/ppt/media/image30.svg" ContentType="image/svg+xml"/>
  <Override PartName="/ppt/media/image4.svg" ContentType="image/svg+xml"/>
  <Override PartName="/ppt/media/image41.svg" ContentType="image/svg+xml"/>
  <Override PartName="/ppt/media/image44.svg" ContentType="image/svg+xml"/>
  <Override PartName="/ppt/media/image6.svg" ContentType="image/svg+xml"/>
  <Override PartName="/ppt/media/image8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8288000" cy="10287000"/>
  <p:notesSz cx="6858000" cy="9144000"/>
  <p:embeddedFontLst>
    <p:embeddedFont>
      <p:font typeface="DM Sans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font" Target="fonts/font1.fntdata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svg"/><Relationship Id="rId7" Type="http://schemas.openxmlformats.org/officeDocument/2006/relationships/image" Target="../media/image7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9" Type="http://schemas.openxmlformats.org/officeDocument/2006/relationships/slideLayout" Target="../slideLayouts/slideLayout7.xml"/><Relationship Id="rId28" Type="http://schemas.openxmlformats.org/officeDocument/2006/relationships/image" Target="../media/image28.svg"/><Relationship Id="rId27" Type="http://schemas.openxmlformats.org/officeDocument/2006/relationships/image" Target="../media/image27.png"/><Relationship Id="rId26" Type="http://schemas.openxmlformats.org/officeDocument/2006/relationships/image" Target="../media/image26.svg"/><Relationship Id="rId25" Type="http://schemas.openxmlformats.org/officeDocument/2006/relationships/image" Target="../media/image25.png"/><Relationship Id="rId24" Type="http://schemas.openxmlformats.org/officeDocument/2006/relationships/image" Target="../media/image24.svg"/><Relationship Id="rId23" Type="http://schemas.openxmlformats.org/officeDocument/2006/relationships/image" Target="../media/image23.png"/><Relationship Id="rId22" Type="http://schemas.openxmlformats.org/officeDocument/2006/relationships/image" Target="../media/image22.svg"/><Relationship Id="rId21" Type="http://schemas.openxmlformats.org/officeDocument/2006/relationships/image" Target="../media/image21.png"/><Relationship Id="rId20" Type="http://schemas.openxmlformats.org/officeDocument/2006/relationships/image" Target="../media/image20.svg"/><Relationship Id="rId2" Type="http://schemas.openxmlformats.org/officeDocument/2006/relationships/image" Target="../media/image2.svg"/><Relationship Id="rId19" Type="http://schemas.openxmlformats.org/officeDocument/2006/relationships/image" Target="../media/image19.png"/><Relationship Id="rId18" Type="http://schemas.openxmlformats.org/officeDocument/2006/relationships/image" Target="../media/image18.svg"/><Relationship Id="rId17" Type="http://schemas.openxmlformats.org/officeDocument/2006/relationships/image" Target="../media/image17.png"/><Relationship Id="rId16" Type="http://schemas.openxmlformats.org/officeDocument/2006/relationships/image" Target="../media/image16.svg"/><Relationship Id="rId15" Type="http://schemas.openxmlformats.org/officeDocument/2006/relationships/image" Target="../media/image15.png"/><Relationship Id="rId14" Type="http://schemas.openxmlformats.org/officeDocument/2006/relationships/image" Target="../media/image14.svg"/><Relationship Id="rId13" Type="http://schemas.openxmlformats.org/officeDocument/2006/relationships/image" Target="../media/image13.png"/><Relationship Id="rId12" Type="http://schemas.openxmlformats.org/officeDocument/2006/relationships/image" Target="../media/image12.svg"/><Relationship Id="rId11" Type="http://schemas.openxmlformats.org/officeDocument/2006/relationships/image" Target="../media/image11.png"/><Relationship Id="rId10" Type="http://schemas.openxmlformats.org/officeDocument/2006/relationships/image" Target="../media/image10.sv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34.png"/><Relationship Id="rId8" Type="http://schemas.openxmlformats.org/officeDocument/2006/relationships/image" Target="../media/image14.svg"/><Relationship Id="rId7" Type="http://schemas.openxmlformats.org/officeDocument/2006/relationships/image" Target="../media/image33.png"/><Relationship Id="rId6" Type="http://schemas.openxmlformats.org/officeDocument/2006/relationships/image" Target="../media/image10.svg"/><Relationship Id="rId5" Type="http://schemas.openxmlformats.org/officeDocument/2006/relationships/image" Target="../media/image32.png"/><Relationship Id="rId4" Type="http://schemas.openxmlformats.org/officeDocument/2006/relationships/image" Target="../media/image8.svg"/><Relationship Id="rId3" Type="http://schemas.openxmlformats.org/officeDocument/2006/relationships/image" Target="../media/image31.png"/><Relationship Id="rId2" Type="http://schemas.openxmlformats.org/officeDocument/2006/relationships/image" Target="../media/image30.svg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26.svg"/><Relationship Id="rId11" Type="http://schemas.openxmlformats.org/officeDocument/2006/relationships/image" Target="../media/image35.png"/><Relationship Id="rId10" Type="http://schemas.openxmlformats.org/officeDocument/2006/relationships/image" Target="../media/image20.svg"/><Relationship Id="rId1" Type="http://schemas.openxmlformats.org/officeDocument/2006/relationships/image" Target="../media/image29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28.svg"/><Relationship Id="rId7" Type="http://schemas.openxmlformats.org/officeDocument/2006/relationships/image" Target="../media/image39.png"/><Relationship Id="rId6" Type="http://schemas.openxmlformats.org/officeDocument/2006/relationships/image" Target="../media/image24.svg"/><Relationship Id="rId5" Type="http://schemas.openxmlformats.org/officeDocument/2006/relationships/image" Target="../media/image38.png"/><Relationship Id="rId4" Type="http://schemas.openxmlformats.org/officeDocument/2006/relationships/image" Target="../media/image16.svg"/><Relationship Id="rId3" Type="http://schemas.openxmlformats.org/officeDocument/2006/relationships/image" Target="../media/image37.png"/><Relationship Id="rId2" Type="http://schemas.openxmlformats.org/officeDocument/2006/relationships/image" Target="../media/image4.svg"/><Relationship Id="rId1" Type="http://schemas.openxmlformats.org/officeDocument/2006/relationships/image" Target="../media/image36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41.svg"/><Relationship Id="rId3" Type="http://schemas.openxmlformats.org/officeDocument/2006/relationships/image" Target="../media/image40.png"/><Relationship Id="rId2" Type="http://schemas.openxmlformats.org/officeDocument/2006/relationships/image" Target="../media/image20.svg"/><Relationship Id="rId1" Type="http://schemas.openxmlformats.org/officeDocument/2006/relationships/image" Target="../media/image34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33.png"/><Relationship Id="rId8" Type="http://schemas.openxmlformats.org/officeDocument/2006/relationships/image" Target="../media/image10.svg"/><Relationship Id="rId7" Type="http://schemas.openxmlformats.org/officeDocument/2006/relationships/image" Target="../media/image32.png"/><Relationship Id="rId6" Type="http://schemas.openxmlformats.org/officeDocument/2006/relationships/image" Target="../media/image8.svg"/><Relationship Id="rId5" Type="http://schemas.openxmlformats.org/officeDocument/2006/relationships/image" Target="../media/image31.png"/><Relationship Id="rId4" Type="http://schemas.openxmlformats.org/officeDocument/2006/relationships/image" Target="../media/image2.svg"/><Relationship Id="rId3" Type="http://schemas.openxmlformats.org/officeDocument/2006/relationships/image" Target="../media/image42.png"/><Relationship Id="rId2" Type="http://schemas.openxmlformats.org/officeDocument/2006/relationships/image" Target="../media/image24.svg"/><Relationship Id="rId17" Type="http://schemas.openxmlformats.org/officeDocument/2006/relationships/slideLayout" Target="../slideLayouts/slideLayout7.xml"/><Relationship Id="rId16" Type="http://schemas.openxmlformats.org/officeDocument/2006/relationships/image" Target="../media/image28.svg"/><Relationship Id="rId15" Type="http://schemas.openxmlformats.org/officeDocument/2006/relationships/image" Target="../media/image39.png"/><Relationship Id="rId14" Type="http://schemas.openxmlformats.org/officeDocument/2006/relationships/image" Target="../media/image20.svg"/><Relationship Id="rId13" Type="http://schemas.openxmlformats.org/officeDocument/2006/relationships/image" Target="../media/image34.png"/><Relationship Id="rId12" Type="http://schemas.openxmlformats.org/officeDocument/2006/relationships/image" Target="../media/image16.svg"/><Relationship Id="rId11" Type="http://schemas.openxmlformats.org/officeDocument/2006/relationships/image" Target="../media/image37.png"/><Relationship Id="rId10" Type="http://schemas.openxmlformats.org/officeDocument/2006/relationships/image" Target="../media/image14.svg"/><Relationship Id="rId1" Type="http://schemas.openxmlformats.org/officeDocument/2006/relationships/image" Target="../media/image38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44.svg"/><Relationship Id="rId3" Type="http://schemas.openxmlformats.org/officeDocument/2006/relationships/image" Target="../media/image43.png"/><Relationship Id="rId2" Type="http://schemas.openxmlformats.org/officeDocument/2006/relationships/image" Target="../media/image26.svg"/><Relationship Id="rId1" Type="http://schemas.openxmlformats.org/officeDocument/2006/relationships/image" Target="../media/image35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45.png"/><Relationship Id="rId8" Type="http://schemas.openxmlformats.org/officeDocument/2006/relationships/image" Target="../media/image10.svg"/><Relationship Id="rId7" Type="http://schemas.openxmlformats.org/officeDocument/2006/relationships/image" Target="../media/image32.png"/><Relationship Id="rId6" Type="http://schemas.openxmlformats.org/officeDocument/2006/relationships/image" Target="../media/image8.svg"/><Relationship Id="rId5" Type="http://schemas.openxmlformats.org/officeDocument/2006/relationships/image" Target="../media/image31.png"/><Relationship Id="rId4" Type="http://schemas.openxmlformats.org/officeDocument/2006/relationships/image" Target="../media/image4.svg"/><Relationship Id="rId3" Type="http://schemas.openxmlformats.org/officeDocument/2006/relationships/image" Target="../media/image36.png"/><Relationship Id="rId27" Type="http://schemas.openxmlformats.org/officeDocument/2006/relationships/slideLayout" Target="../slideLayouts/slideLayout7.xml"/><Relationship Id="rId26" Type="http://schemas.openxmlformats.org/officeDocument/2006/relationships/image" Target="../media/image28.svg"/><Relationship Id="rId25" Type="http://schemas.openxmlformats.org/officeDocument/2006/relationships/image" Target="../media/image39.png"/><Relationship Id="rId24" Type="http://schemas.openxmlformats.org/officeDocument/2006/relationships/image" Target="../media/image26.svg"/><Relationship Id="rId23" Type="http://schemas.openxmlformats.org/officeDocument/2006/relationships/image" Target="../media/image35.png"/><Relationship Id="rId22" Type="http://schemas.openxmlformats.org/officeDocument/2006/relationships/image" Target="../media/image24.svg"/><Relationship Id="rId21" Type="http://schemas.openxmlformats.org/officeDocument/2006/relationships/image" Target="../media/image38.png"/><Relationship Id="rId20" Type="http://schemas.openxmlformats.org/officeDocument/2006/relationships/image" Target="../media/image22.svg"/><Relationship Id="rId2" Type="http://schemas.openxmlformats.org/officeDocument/2006/relationships/image" Target="../media/image2.svg"/><Relationship Id="rId19" Type="http://schemas.openxmlformats.org/officeDocument/2006/relationships/image" Target="../media/image47.png"/><Relationship Id="rId18" Type="http://schemas.openxmlformats.org/officeDocument/2006/relationships/image" Target="../media/image20.svg"/><Relationship Id="rId17" Type="http://schemas.openxmlformats.org/officeDocument/2006/relationships/image" Target="../media/image34.png"/><Relationship Id="rId16" Type="http://schemas.openxmlformats.org/officeDocument/2006/relationships/image" Target="../media/image18.svg"/><Relationship Id="rId15" Type="http://schemas.openxmlformats.org/officeDocument/2006/relationships/image" Target="../media/image46.png"/><Relationship Id="rId14" Type="http://schemas.openxmlformats.org/officeDocument/2006/relationships/image" Target="../media/image16.svg"/><Relationship Id="rId13" Type="http://schemas.openxmlformats.org/officeDocument/2006/relationships/image" Target="../media/image37.png"/><Relationship Id="rId12" Type="http://schemas.openxmlformats.org/officeDocument/2006/relationships/image" Target="../media/image14.svg"/><Relationship Id="rId11" Type="http://schemas.openxmlformats.org/officeDocument/2006/relationships/image" Target="../media/image33.png"/><Relationship Id="rId10" Type="http://schemas.openxmlformats.org/officeDocument/2006/relationships/image" Target="../media/image12.svg"/><Relationship Id="rId1" Type="http://schemas.openxmlformats.org/officeDocument/2006/relationships/image" Target="../media/image4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329398" y="8614893"/>
            <a:ext cx="4899948" cy="3344214"/>
          </a:xfrm>
          <a:custGeom>
            <a:avLst/>
            <a:gdLst/>
            <a:ahLst/>
            <a:cxnLst/>
            <a:rect l="l" t="t" r="r" b="b"/>
            <a:pathLst>
              <a:path w="4899948" h="3344214">
                <a:moveTo>
                  <a:pt x="0" y="0"/>
                </a:moveTo>
                <a:lnTo>
                  <a:pt x="4899947" y="0"/>
                </a:lnTo>
                <a:lnTo>
                  <a:pt x="4899947" y="3344214"/>
                </a:lnTo>
                <a:lnTo>
                  <a:pt x="0" y="3344214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6030709" y="9258300"/>
            <a:ext cx="3059829" cy="751049"/>
          </a:xfrm>
          <a:custGeom>
            <a:avLst/>
            <a:gdLst/>
            <a:ahLst/>
            <a:cxnLst/>
            <a:rect l="l" t="t" r="r" b="b"/>
            <a:pathLst>
              <a:path w="3059829" h="751049">
                <a:moveTo>
                  <a:pt x="0" y="0"/>
                </a:moveTo>
                <a:lnTo>
                  <a:pt x="3059829" y="0"/>
                </a:lnTo>
                <a:lnTo>
                  <a:pt x="3059829" y="751049"/>
                </a:lnTo>
                <a:lnTo>
                  <a:pt x="0" y="75104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4236705" y="6409875"/>
            <a:ext cx="724985" cy="920616"/>
          </a:xfrm>
          <a:custGeom>
            <a:avLst/>
            <a:gdLst/>
            <a:ahLst/>
            <a:cxnLst/>
            <a:rect l="l" t="t" r="r" b="b"/>
            <a:pathLst>
              <a:path w="724985" h="920616">
                <a:moveTo>
                  <a:pt x="0" y="0"/>
                </a:moveTo>
                <a:lnTo>
                  <a:pt x="724986" y="0"/>
                </a:lnTo>
                <a:lnTo>
                  <a:pt x="724986" y="920616"/>
                </a:lnTo>
                <a:lnTo>
                  <a:pt x="0" y="92061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4215205" y="8540136"/>
            <a:ext cx="4602314" cy="3618569"/>
          </a:xfrm>
          <a:custGeom>
            <a:avLst/>
            <a:gdLst/>
            <a:ahLst/>
            <a:cxnLst/>
            <a:rect l="l" t="t" r="r" b="b"/>
            <a:pathLst>
              <a:path w="4602314" h="3618569">
                <a:moveTo>
                  <a:pt x="0" y="0"/>
                </a:moveTo>
                <a:lnTo>
                  <a:pt x="4602314" y="0"/>
                </a:lnTo>
                <a:lnTo>
                  <a:pt x="4602314" y="3618570"/>
                </a:lnTo>
                <a:lnTo>
                  <a:pt x="0" y="361857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Freeform 6"/>
          <p:cNvSpPr/>
          <p:nvPr/>
        </p:nvSpPr>
        <p:spPr>
          <a:xfrm>
            <a:off x="-674156" y="-1072630"/>
            <a:ext cx="4899948" cy="3068592"/>
          </a:xfrm>
          <a:custGeom>
            <a:avLst/>
            <a:gdLst/>
            <a:ahLst/>
            <a:cxnLst/>
            <a:rect l="l" t="t" r="r" b="b"/>
            <a:pathLst>
              <a:path w="4899948" h="3068592">
                <a:moveTo>
                  <a:pt x="0" y="0"/>
                </a:moveTo>
                <a:lnTo>
                  <a:pt x="4899948" y="0"/>
                </a:lnTo>
                <a:lnTo>
                  <a:pt x="4899948" y="3068592"/>
                </a:lnTo>
                <a:lnTo>
                  <a:pt x="0" y="306859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7" name="Freeform 7"/>
          <p:cNvSpPr/>
          <p:nvPr/>
        </p:nvSpPr>
        <p:spPr>
          <a:xfrm>
            <a:off x="12686214" y="-2578193"/>
            <a:ext cx="4292424" cy="3870986"/>
          </a:xfrm>
          <a:custGeom>
            <a:avLst/>
            <a:gdLst/>
            <a:ahLst/>
            <a:cxnLst/>
            <a:rect l="l" t="t" r="r" b="b"/>
            <a:pathLst>
              <a:path w="4292424" h="3870986">
                <a:moveTo>
                  <a:pt x="0" y="0"/>
                </a:moveTo>
                <a:lnTo>
                  <a:pt x="4292424" y="0"/>
                </a:lnTo>
                <a:lnTo>
                  <a:pt x="4292424" y="3870986"/>
                </a:lnTo>
                <a:lnTo>
                  <a:pt x="0" y="387098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8" name="Freeform 8"/>
          <p:cNvSpPr/>
          <p:nvPr/>
        </p:nvSpPr>
        <p:spPr>
          <a:xfrm>
            <a:off x="10138935" y="9258300"/>
            <a:ext cx="4076270" cy="2863579"/>
          </a:xfrm>
          <a:custGeom>
            <a:avLst/>
            <a:gdLst/>
            <a:ahLst/>
            <a:cxnLst/>
            <a:rect l="l" t="t" r="r" b="b"/>
            <a:pathLst>
              <a:path w="4076270" h="2863579">
                <a:moveTo>
                  <a:pt x="0" y="0"/>
                </a:moveTo>
                <a:lnTo>
                  <a:pt x="4076270" y="0"/>
                </a:lnTo>
                <a:lnTo>
                  <a:pt x="4076270" y="2863579"/>
                </a:lnTo>
                <a:lnTo>
                  <a:pt x="0" y="2863579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9" name="Freeform 9"/>
          <p:cNvSpPr/>
          <p:nvPr/>
        </p:nvSpPr>
        <p:spPr>
          <a:xfrm>
            <a:off x="7409323" y="-2700100"/>
            <a:ext cx="5493058" cy="4114800"/>
          </a:xfrm>
          <a:custGeom>
            <a:avLst/>
            <a:gdLst/>
            <a:ahLst/>
            <a:cxnLst/>
            <a:rect l="l" t="t" r="r" b="b"/>
            <a:pathLst>
              <a:path w="5493058" h="4114800">
                <a:moveTo>
                  <a:pt x="0" y="0"/>
                </a:moveTo>
                <a:lnTo>
                  <a:pt x="5493058" y="0"/>
                </a:lnTo>
                <a:lnTo>
                  <a:pt x="54930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0" name="Freeform 10"/>
          <p:cNvSpPr/>
          <p:nvPr/>
        </p:nvSpPr>
        <p:spPr>
          <a:xfrm rot="4747568">
            <a:off x="-2972342" y="3665317"/>
            <a:ext cx="4896097" cy="2735694"/>
          </a:xfrm>
          <a:custGeom>
            <a:avLst/>
            <a:gdLst/>
            <a:ahLst/>
            <a:cxnLst/>
            <a:rect l="l" t="t" r="r" b="b"/>
            <a:pathLst>
              <a:path w="4896097" h="2735694">
                <a:moveTo>
                  <a:pt x="0" y="0"/>
                </a:moveTo>
                <a:lnTo>
                  <a:pt x="4896097" y="0"/>
                </a:lnTo>
                <a:lnTo>
                  <a:pt x="4896097" y="2735694"/>
                </a:lnTo>
                <a:lnTo>
                  <a:pt x="0" y="2735694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1" name="Freeform 11"/>
          <p:cNvSpPr/>
          <p:nvPr/>
        </p:nvSpPr>
        <p:spPr>
          <a:xfrm>
            <a:off x="4831481" y="-1626507"/>
            <a:ext cx="2892762" cy="2919301"/>
          </a:xfrm>
          <a:custGeom>
            <a:avLst/>
            <a:gdLst/>
            <a:ahLst/>
            <a:cxnLst/>
            <a:rect l="l" t="t" r="r" b="b"/>
            <a:pathLst>
              <a:path w="2892762" h="2919301">
                <a:moveTo>
                  <a:pt x="0" y="0"/>
                </a:moveTo>
                <a:lnTo>
                  <a:pt x="2892761" y="0"/>
                </a:lnTo>
                <a:lnTo>
                  <a:pt x="2892761" y="2919300"/>
                </a:lnTo>
                <a:lnTo>
                  <a:pt x="0" y="2919300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2" name="Freeform 12"/>
          <p:cNvSpPr/>
          <p:nvPr/>
        </p:nvSpPr>
        <p:spPr>
          <a:xfrm>
            <a:off x="17259300" y="2262342"/>
            <a:ext cx="3575541" cy="3575541"/>
          </a:xfrm>
          <a:custGeom>
            <a:avLst/>
            <a:gdLst/>
            <a:ahLst/>
            <a:cxnLst/>
            <a:rect l="l" t="t" r="r" b="b"/>
            <a:pathLst>
              <a:path w="3575541" h="3575541">
                <a:moveTo>
                  <a:pt x="0" y="0"/>
                </a:moveTo>
                <a:lnTo>
                  <a:pt x="3575541" y="0"/>
                </a:lnTo>
                <a:lnTo>
                  <a:pt x="3575541" y="3575541"/>
                </a:lnTo>
                <a:lnTo>
                  <a:pt x="0" y="3575541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3" name="Freeform 13"/>
          <p:cNvSpPr/>
          <p:nvPr/>
        </p:nvSpPr>
        <p:spPr>
          <a:xfrm>
            <a:off x="2570549" y="9093737"/>
            <a:ext cx="2587020" cy="2386526"/>
          </a:xfrm>
          <a:custGeom>
            <a:avLst/>
            <a:gdLst/>
            <a:ahLst/>
            <a:cxnLst/>
            <a:rect l="l" t="t" r="r" b="b"/>
            <a:pathLst>
              <a:path w="2587020" h="2386526">
                <a:moveTo>
                  <a:pt x="0" y="0"/>
                </a:moveTo>
                <a:lnTo>
                  <a:pt x="2587020" y="0"/>
                </a:lnTo>
                <a:lnTo>
                  <a:pt x="2587020" y="2386526"/>
                </a:lnTo>
                <a:lnTo>
                  <a:pt x="0" y="2386526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4" name="Freeform 14"/>
          <p:cNvSpPr/>
          <p:nvPr/>
        </p:nvSpPr>
        <p:spPr>
          <a:xfrm rot="-5282649">
            <a:off x="16440369" y="6970869"/>
            <a:ext cx="3382987" cy="1154444"/>
          </a:xfrm>
          <a:custGeom>
            <a:avLst/>
            <a:gdLst/>
            <a:ahLst/>
            <a:cxnLst/>
            <a:rect l="l" t="t" r="r" b="b"/>
            <a:pathLst>
              <a:path w="3382987" h="1154444">
                <a:moveTo>
                  <a:pt x="0" y="0"/>
                </a:moveTo>
                <a:lnTo>
                  <a:pt x="3382987" y="0"/>
                </a:lnTo>
                <a:lnTo>
                  <a:pt x="3382987" y="1154445"/>
                </a:lnTo>
                <a:lnTo>
                  <a:pt x="0" y="1154445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5" name="Freeform 15"/>
          <p:cNvSpPr/>
          <p:nvPr/>
        </p:nvSpPr>
        <p:spPr>
          <a:xfrm>
            <a:off x="16978638" y="-642644"/>
            <a:ext cx="3104522" cy="3342688"/>
          </a:xfrm>
          <a:custGeom>
            <a:avLst/>
            <a:gdLst/>
            <a:ahLst/>
            <a:cxnLst/>
            <a:rect l="l" t="t" r="r" b="b"/>
            <a:pathLst>
              <a:path w="3104522" h="3342688">
                <a:moveTo>
                  <a:pt x="0" y="0"/>
                </a:moveTo>
                <a:lnTo>
                  <a:pt x="3104522" y="0"/>
                </a:lnTo>
                <a:lnTo>
                  <a:pt x="3104522" y="3342688"/>
                </a:lnTo>
                <a:lnTo>
                  <a:pt x="0" y="3342688"/>
                </a:lnTo>
                <a:lnTo>
                  <a:pt x="0" y="0"/>
                </a:lnTo>
                <a:close/>
              </a:path>
            </a:pathLst>
          </a:custGeom>
          <a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6" name="TextBox 16"/>
          <p:cNvSpPr txBox="1"/>
          <p:nvPr/>
        </p:nvSpPr>
        <p:spPr>
          <a:xfrm>
            <a:off x="3688802" y="3908068"/>
            <a:ext cx="10910396" cy="1657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20"/>
              </a:lnSpc>
            </a:pPr>
            <a:r>
              <a:rPr lang="en-US" sz="13000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Kubernetes</a:t>
            </a:r>
            <a:endParaRPr lang="en-US" sz="13000" b="1">
              <a:solidFill>
                <a:srgbClr val="000000"/>
              </a:solidFill>
              <a:latin typeface="DM Sans Bold"/>
              <a:ea typeface="DM Sans Bold"/>
              <a:cs typeface="DM Sans Bold"/>
              <a:sym typeface="DM Sans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4914102" y="6347808"/>
            <a:ext cx="8459795" cy="11304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80"/>
              </a:lnSpc>
            </a:pPr>
            <a:r>
              <a:rPr lang="en-US" sz="4380" b="1" spc="-87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Shami Verma</a:t>
            </a:r>
            <a:endParaRPr lang="en-US" sz="4380" b="1" spc="-87">
              <a:solidFill>
                <a:srgbClr val="000000"/>
              </a:solidFill>
              <a:latin typeface="DM Sans Bold"/>
              <a:ea typeface="DM Sans Bold"/>
              <a:cs typeface="DM Sans Bold"/>
              <a:sym typeface="DM Sans Bold"/>
            </a:endParaRPr>
          </a:p>
          <a:p>
            <a:pPr algn="ctr">
              <a:lnSpc>
                <a:spcPts val="4380"/>
              </a:lnSpc>
            </a:pPr>
            <a:r>
              <a:rPr lang="en-US" sz="4380" b="1" spc="-87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Btech 2</a:t>
            </a:r>
            <a:r>
              <a:rPr lang="en-US" sz="4380" b="1" spc="-87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nd</a:t>
            </a:r>
            <a:r>
              <a:rPr lang="en-US" sz="4380" b="1" spc="-87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 year(IBM)</a:t>
            </a:r>
            <a:endParaRPr lang="en-US" sz="4380" b="1" spc="-87">
              <a:solidFill>
                <a:srgbClr val="000000"/>
              </a:solidFill>
              <a:latin typeface="DM Sans Bold"/>
              <a:ea typeface="DM Sans Bold"/>
              <a:cs typeface="DM Sans Bold"/>
              <a:sym typeface="DM Sans Bold"/>
            </a:endParaRPr>
          </a:p>
        </p:txBody>
      </p:sp>
      <p:sp>
        <p:nvSpPr>
          <p:cNvPr id="18" name="Freeform 18"/>
          <p:cNvSpPr/>
          <p:nvPr/>
        </p:nvSpPr>
        <p:spPr>
          <a:xfrm>
            <a:off x="4737926" y="2576219"/>
            <a:ext cx="724985" cy="920616"/>
          </a:xfrm>
          <a:custGeom>
            <a:avLst/>
            <a:gdLst/>
            <a:ahLst/>
            <a:cxnLst/>
            <a:rect l="l" t="t" r="r" b="b"/>
            <a:pathLst>
              <a:path w="724985" h="920616">
                <a:moveTo>
                  <a:pt x="0" y="0"/>
                </a:moveTo>
                <a:lnTo>
                  <a:pt x="724985" y="0"/>
                </a:lnTo>
                <a:lnTo>
                  <a:pt x="724985" y="920616"/>
                </a:lnTo>
                <a:lnTo>
                  <a:pt x="0" y="92061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994934" y="2091045"/>
            <a:ext cx="6264366" cy="6104909"/>
          </a:xfrm>
          <a:custGeom>
            <a:avLst/>
            <a:gdLst/>
            <a:ahLst/>
            <a:cxnLst/>
            <a:rect l="l" t="t" r="r" b="b"/>
            <a:pathLst>
              <a:path w="6264366" h="6104909">
                <a:moveTo>
                  <a:pt x="0" y="0"/>
                </a:moveTo>
                <a:lnTo>
                  <a:pt x="6264366" y="0"/>
                </a:lnTo>
                <a:lnTo>
                  <a:pt x="6264366" y="6104910"/>
                </a:lnTo>
                <a:lnTo>
                  <a:pt x="0" y="610491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504950" y="2345718"/>
            <a:ext cx="7848753" cy="2282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730"/>
              </a:lnSpc>
            </a:pPr>
            <a:r>
              <a:rPr lang="en-US" sz="9000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What is Kubernetes?</a:t>
            </a:r>
            <a:endParaRPr lang="en-US" sz="9000" b="1">
              <a:solidFill>
                <a:srgbClr val="000000"/>
              </a:solidFill>
              <a:latin typeface="DM Sans Bold"/>
              <a:ea typeface="DM Sans Bold"/>
              <a:cs typeface="DM Sans Bold"/>
              <a:sym typeface="DM Sans 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504950" y="4807557"/>
            <a:ext cx="7707571" cy="5539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00"/>
              </a:lnSpc>
              <a:spcBef>
                <a:spcPct val="0"/>
              </a:spcBef>
            </a:pPr>
            <a:r>
              <a:rPr lang="en-US" sz="2000" spc="11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Kube</a:t>
            </a:r>
            <a:r>
              <a:rPr lang="en-US" sz="2000" u="none" spc="11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rnetes (K8s) is a system that helps you run, manage, and scale applications automatically.</a:t>
            </a:r>
            <a:endParaRPr lang="en-US" sz="2000" u="none" spc="119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>
              <a:lnSpc>
                <a:spcPts val="2700"/>
              </a:lnSpc>
              <a:spcBef>
                <a:spcPct val="0"/>
              </a:spcBef>
            </a:pPr>
            <a:r>
              <a:rPr lang="en-US" sz="2000" u="none" spc="11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Think of Kubernetes like a smart manager for your apps:</a:t>
            </a:r>
            <a:endParaRPr lang="en-US" sz="2000" u="none" spc="119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31800" lvl="1" indent="-215900" algn="l">
              <a:lnSpc>
                <a:spcPts val="2700"/>
              </a:lnSpc>
              <a:spcBef>
                <a:spcPct val="0"/>
              </a:spcBef>
              <a:buFont typeface="Arial" panose="020B0604020202090204"/>
              <a:buChar char="•"/>
            </a:pPr>
            <a:r>
              <a:rPr lang="en-US" sz="2000" u="none" spc="11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It decides where apps should run</a:t>
            </a:r>
            <a:endParaRPr lang="en-US" sz="2000" u="none" spc="119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31800" lvl="1" indent="-215900" algn="l">
              <a:lnSpc>
                <a:spcPts val="2700"/>
              </a:lnSpc>
              <a:spcBef>
                <a:spcPct val="0"/>
              </a:spcBef>
              <a:buFont typeface="Arial" panose="020B0604020202090204"/>
              <a:buChar char="•"/>
            </a:pPr>
            <a:r>
              <a:rPr lang="en-US" sz="2000" u="none" spc="11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Restarts apps if they crash</a:t>
            </a:r>
            <a:endParaRPr lang="en-US" sz="2000" u="none" spc="119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31800" lvl="1" indent="-215900" algn="l">
              <a:lnSpc>
                <a:spcPts val="2700"/>
              </a:lnSpc>
              <a:spcBef>
                <a:spcPct val="0"/>
              </a:spcBef>
              <a:buFont typeface="Arial" panose="020B0604020202090204"/>
              <a:buChar char="•"/>
            </a:pPr>
            <a:r>
              <a:rPr lang="en-US" sz="2000" u="none" spc="11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Makes more copies if users increase</a:t>
            </a:r>
            <a:endParaRPr lang="en-US" sz="2000" u="none" spc="119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31800" lvl="1" indent="-215900" algn="l">
              <a:lnSpc>
                <a:spcPts val="2700"/>
              </a:lnSpc>
              <a:spcBef>
                <a:spcPct val="0"/>
              </a:spcBef>
              <a:buFont typeface="Arial" panose="020B0604020202090204"/>
              <a:buChar char="•"/>
            </a:pPr>
            <a:r>
              <a:rPr lang="en-US" sz="2000" u="none" spc="11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Connects apps so they can talk to each other</a:t>
            </a:r>
            <a:endParaRPr lang="en-US" sz="2000" u="none" spc="119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>
              <a:lnSpc>
                <a:spcPts val="2700"/>
              </a:lnSpc>
              <a:spcBef>
                <a:spcPct val="0"/>
              </a:spcBef>
            </a:pPr>
            <a:r>
              <a:rPr lang="en-US" sz="2000" u="none" spc="11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Example</a:t>
            </a:r>
            <a:endParaRPr lang="en-US" sz="2000" u="none" spc="119">
              <a:solidFill>
                <a:srgbClr val="000000"/>
              </a:solidFill>
              <a:latin typeface="DM Sans Bold"/>
              <a:ea typeface="DM Sans Bold"/>
              <a:cs typeface="DM Sans Bold"/>
              <a:sym typeface="DM Sans Bold"/>
            </a:endParaRPr>
          </a:p>
          <a:p>
            <a:pPr marL="0" lvl="0" indent="0" algn="l">
              <a:lnSpc>
                <a:spcPts val="2700"/>
              </a:lnSpc>
              <a:spcBef>
                <a:spcPct val="0"/>
              </a:spcBef>
            </a:pPr>
            <a:r>
              <a:rPr lang="en-US" sz="2000" u="none" spc="11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If you have a website:</a:t>
            </a:r>
            <a:endParaRPr lang="en-US" sz="2000" u="none" spc="119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31800" lvl="1" indent="-215900" algn="l">
              <a:lnSpc>
                <a:spcPts val="2700"/>
              </a:lnSpc>
              <a:spcBef>
                <a:spcPct val="0"/>
              </a:spcBef>
              <a:buFont typeface="Arial" panose="020B0604020202090204"/>
              <a:buChar char="•"/>
            </a:pPr>
            <a:r>
              <a:rPr lang="en-US" sz="2000" u="none" spc="11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Kubernetes can run 3 copies of it</a:t>
            </a:r>
            <a:endParaRPr lang="en-US" sz="2000" u="none" spc="119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31800" lvl="1" indent="-215900" algn="l">
              <a:lnSpc>
                <a:spcPts val="2700"/>
              </a:lnSpc>
              <a:spcBef>
                <a:spcPct val="0"/>
              </a:spcBef>
              <a:buFont typeface="Arial" panose="020B0604020202090204"/>
              <a:buChar char="•"/>
            </a:pPr>
            <a:r>
              <a:rPr lang="en-US" sz="2000" u="none" spc="11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If one copy crashes, Kubernetes starts a new one</a:t>
            </a:r>
            <a:endParaRPr lang="en-US" sz="2000" u="none" spc="119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31800" lvl="1" indent="-215900" algn="l">
              <a:lnSpc>
                <a:spcPts val="2700"/>
              </a:lnSpc>
              <a:spcBef>
                <a:spcPct val="0"/>
              </a:spcBef>
              <a:buFont typeface="Arial" panose="020B0604020202090204"/>
              <a:buChar char="•"/>
            </a:pPr>
            <a:r>
              <a:rPr lang="en-US" sz="2000" u="none" spc="11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If traffic increases, it automatically creates more copies</a:t>
            </a:r>
            <a:endParaRPr lang="en-US" sz="2000" u="none" spc="119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>
              <a:lnSpc>
                <a:spcPts val="2700"/>
              </a:lnSpc>
              <a:spcBef>
                <a:spcPct val="0"/>
              </a:spcBef>
            </a:pPr>
            <a:r>
              <a:rPr lang="en-US" sz="2000" u="none" spc="11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👉 If your app suddenly gets 1,000 users, how many copies do you think Kubernetes will run?</a:t>
            </a:r>
            <a:endParaRPr lang="en-US" sz="2000" u="none" spc="119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>
              <a:lnSpc>
                <a:spcPts val="2700"/>
              </a:lnSpc>
              <a:spcBef>
                <a:spcPct val="0"/>
              </a:spcBef>
            </a:pPr>
          </a:p>
        </p:txBody>
      </p:sp>
      <p:sp>
        <p:nvSpPr>
          <p:cNvPr id="5" name="Freeform 5"/>
          <p:cNvSpPr/>
          <p:nvPr/>
        </p:nvSpPr>
        <p:spPr>
          <a:xfrm>
            <a:off x="15353489" y="8540136"/>
            <a:ext cx="4602314" cy="3618569"/>
          </a:xfrm>
          <a:custGeom>
            <a:avLst/>
            <a:gdLst/>
            <a:ahLst/>
            <a:cxnLst/>
            <a:rect l="l" t="t" r="r" b="b"/>
            <a:pathLst>
              <a:path w="4602314" h="3618569">
                <a:moveTo>
                  <a:pt x="0" y="0"/>
                </a:moveTo>
                <a:lnTo>
                  <a:pt x="4602314" y="0"/>
                </a:lnTo>
                <a:lnTo>
                  <a:pt x="4602314" y="3618570"/>
                </a:lnTo>
                <a:lnTo>
                  <a:pt x="0" y="361857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Freeform 6"/>
          <p:cNvSpPr/>
          <p:nvPr/>
        </p:nvSpPr>
        <p:spPr>
          <a:xfrm>
            <a:off x="-674156" y="-1072630"/>
            <a:ext cx="4899948" cy="3068592"/>
          </a:xfrm>
          <a:custGeom>
            <a:avLst/>
            <a:gdLst/>
            <a:ahLst/>
            <a:cxnLst/>
            <a:rect l="l" t="t" r="r" b="b"/>
            <a:pathLst>
              <a:path w="4899948" h="3068592">
                <a:moveTo>
                  <a:pt x="0" y="0"/>
                </a:moveTo>
                <a:lnTo>
                  <a:pt x="4899948" y="0"/>
                </a:lnTo>
                <a:lnTo>
                  <a:pt x="4899948" y="3068592"/>
                </a:lnTo>
                <a:lnTo>
                  <a:pt x="0" y="306859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7" name="Freeform 7"/>
          <p:cNvSpPr/>
          <p:nvPr/>
        </p:nvSpPr>
        <p:spPr>
          <a:xfrm>
            <a:off x="9144000" y="9258300"/>
            <a:ext cx="4076270" cy="2863579"/>
          </a:xfrm>
          <a:custGeom>
            <a:avLst/>
            <a:gdLst/>
            <a:ahLst/>
            <a:cxnLst/>
            <a:rect l="l" t="t" r="r" b="b"/>
            <a:pathLst>
              <a:path w="4076270" h="2863579">
                <a:moveTo>
                  <a:pt x="0" y="0"/>
                </a:moveTo>
                <a:lnTo>
                  <a:pt x="4076270" y="0"/>
                </a:lnTo>
                <a:lnTo>
                  <a:pt x="4076270" y="2863579"/>
                </a:lnTo>
                <a:lnTo>
                  <a:pt x="0" y="286357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8" name="Freeform 8"/>
          <p:cNvSpPr/>
          <p:nvPr/>
        </p:nvSpPr>
        <p:spPr>
          <a:xfrm>
            <a:off x="5003948" y="-1890601"/>
            <a:ext cx="2892762" cy="2919301"/>
          </a:xfrm>
          <a:custGeom>
            <a:avLst/>
            <a:gdLst/>
            <a:ahLst/>
            <a:cxnLst/>
            <a:rect l="l" t="t" r="r" b="b"/>
            <a:pathLst>
              <a:path w="2892762" h="2919301">
                <a:moveTo>
                  <a:pt x="0" y="0"/>
                </a:moveTo>
                <a:lnTo>
                  <a:pt x="2892762" y="0"/>
                </a:lnTo>
                <a:lnTo>
                  <a:pt x="2892762" y="2919301"/>
                </a:lnTo>
                <a:lnTo>
                  <a:pt x="0" y="291930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9" name="Freeform 9"/>
          <p:cNvSpPr/>
          <p:nvPr/>
        </p:nvSpPr>
        <p:spPr>
          <a:xfrm rot="-5282649">
            <a:off x="16004285" y="265374"/>
            <a:ext cx="4017207" cy="1370872"/>
          </a:xfrm>
          <a:custGeom>
            <a:avLst/>
            <a:gdLst/>
            <a:ahLst/>
            <a:cxnLst/>
            <a:rect l="l" t="t" r="r" b="b"/>
            <a:pathLst>
              <a:path w="4017207" h="1370872">
                <a:moveTo>
                  <a:pt x="0" y="0"/>
                </a:moveTo>
                <a:lnTo>
                  <a:pt x="4017207" y="0"/>
                </a:lnTo>
                <a:lnTo>
                  <a:pt x="4017207" y="1370872"/>
                </a:lnTo>
                <a:lnTo>
                  <a:pt x="0" y="137087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504950" y="2566521"/>
            <a:ext cx="7025086" cy="3387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730"/>
              </a:lnSpc>
            </a:pPr>
            <a:r>
              <a:rPr lang="en-US" sz="9000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Why Kubernetes Is Needed</a:t>
            </a:r>
            <a:endParaRPr lang="en-US" sz="9000" b="1">
              <a:solidFill>
                <a:srgbClr val="000000"/>
              </a:solidFill>
              <a:latin typeface="DM Sans Bold"/>
              <a:ea typeface="DM Sans Bold"/>
              <a:cs typeface="DM Sans Bold"/>
              <a:sym typeface="DM Sans Bol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504950" y="6252853"/>
            <a:ext cx="7025086" cy="657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00"/>
              </a:lnSpc>
              <a:spcBef>
                <a:spcPct val="0"/>
              </a:spcBef>
            </a:pPr>
            <a:r>
              <a:rPr lang="en-US" sz="2000" spc="11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K</a:t>
            </a:r>
            <a:r>
              <a:rPr lang="en-US" sz="2000" u="none" spc="11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ubernetes solves common problems that happen when apps grow and run on many machines.</a:t>
            </a:r>
            <a:endParaRPr lang="en-US" sz="2000" u="none" spc="119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4" name="Group 4"/>
          <p:cNvGrpSpPr/>
          <p:nvPr/>
        </p:nvGrpSpPr>
        <p:grpSpPr>
          <a:xfrm rot="0">
            <a:off x="10114280" y="268925"/>
            <a:ext cx="6998061" cy="1555206"/>
            <a:chOff x="0" y="0"/>
            <a:chExt cx="2342659" cy="52061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342659" cy="520618"/>
            </a:xfrm>
            <a:custGeom>
              <a:avLst/>
              <a:gdLst/>
              <a:ahLst/>
              <a:cxnLst/>
              <a:rect l="l" t="t" r="r" b="b"/>
              <a:pathLst>
                <a:path w="2342659" h="520618">
                  <a:moveTo>
                    <a:pt x="16594" y="0"/>
                  </a:moveTo>
                  <a:lnTo>
                    <a:pt x="2326064" y="0"/>
                  </a:lnTo>
                  <a:cubicBezTo>
                    <a:pt x="2335229" y="0"/>
                    <a:pt x="2342659" y="7430"/>
                    <a:pt x="2342659" y="16594"/>
                  </a:cubicBezTo>
                  <a:lnTo>
                    <a:pt x="2342659" y="504024"/>
                  </a:lnTo>
                  <a:cubicBezTo>
                    <a:pt x="2342659" y="508425"/>
                    <a:pt x="2340910" y="512646"/>
                    <a:pt x="2337798" y="515758"/>
                  </a:cubicBezTo>
                  <a:cubicBezTo>
                    <a:pt x="2334686" y="518870"/>
                    <a:pt x="2330465" y="520618"/>
                    <a:pt x="2326064" y="520618"/>
                  </a:cubicBezTo>
                  <a:lnTo>
                    <a:pt x="16594" y="520618"/>
                  </a:lnTo>
                  <a:cubicBezTo>
                    <a:pt x="7430" y="520618"/>
                    <a:pt x="0" y="513188"/>
                    <a:pt x="0" y="504024"/>
                  </a:cubicBezTo>
                  <a:lnTo>
                    <a:pt x="0" y="16594"/>
                  </a:lnTo>
                  <a:cubicBezTo>
                    <a:pt x="0" y="7430"/>
                    <a:pt x="7430" y="0"/>
                    <a:pt x="16594" y="0"/>
                  </a:cubicBezTo>
                  <a:close/>
                </a:path>
              </a:pathLst>
            </a:custGeom>
            <a:solidFill>
              <a:srgbClr val="8AB7E2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85725"/>
              <a:ext cx="2342659" cy="4348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0491672" y="715563"/>
            <a:ext cx="1578952" cy="10344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80"/>
              </a:lnSpc>
            </a:pPr>
            <a:r>
              <a:rPr lang="en-US" sz="8000" spc="-65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01.</a:t>
            </a:r>
            <a:endParaRPr lang="en-US" sz="8000" spc="-656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8" name="Group 8"/>
          <p:cNvGrpSpPr/>
          <p:nvPr/>
        </p:nvGrpSpPr>
        <p:grpSpPr>
          <a:xfrm rot="0">
            <a:off x="10114280" y="2214656"/>
            <a:ext cx="6998061" cy="1559202"/>
            <a:chOff x="0" y="0"/>
            <a:chExt cx="2342659" cy="52195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342659" cy="521956"/>
            </a:xfrm>
            <a:custGeom>
              <a:avLst/>
              <a:gdLst/>
              <a:ahLst/>
              <a:cxnLst/>
              <a:rect l="l" t="t" r="r" b="b"/>
              <a:pathLst>
                <a:path w="2342659" h="521956">
                  <a:moveTo>
                    <a:pt x="16594" y="0"/>
                  </a:moveTo>
                  <a:lnTo>
                    <a:pt x="2326064" y="0"/>
                  </a:lnTo>
                  <a:cubicBezTo>
                    <a:pt x="2335229" y="0"/>
                    <a:pt x="2342659" y="7430"/>
                    <a:pt x="2342659" y="16594"/>
                  </a:cubicBezTo>
                  <a:lnTo>
                    <a:pt x="2342659" y="505361"/>
                  </a:lnTo>
                  <a:cubicBezTo>
                    <a:pt x="2342659" y="514526"/>
                    <a:pt x="2335229" y="521956"/>
                    <a:pt x="2326064" y="521956"/>
                  </a:cubicBezTo>
                  <a:lnTo>
                    <a:pt x="16594" y="521956"/>
                  </a:lnTo>
                  <a:cubicBezTo>
                    <a:pt x="7430" y="521956"/>
                    <a:pt x="0" y="514526"/>
                    <a:pt x="0" y="505361"/>
                  </a:cubicBezTo>
                  <a:lnTo>
                    <a:pt x="0" y="16594"/>
                  </a:lnTo>
                  <a:cubicBezTo>
                    <a:pt x="0" y="7430"/>
                    <a:pt x="7430" y="0"/>
                    <a:pt x="16594" y="0"/>
                  </a:cubicBezTo>
                  <a:close/>
                </a:path>
              </a:pathLst>
            </a:custGeom>
            <a:solidFill>
              <a:srgbClr val="8AB7E2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85725"/>
              <a:ext cx="2342659" cy="4362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grpSp>
        <p:nvGrpSpPr>
          <p:cNvPr id="11" name="Group 11"/>
          <p:cNvGrpSpPr/>
          <p:nvPr/>
        </p:nvGrpSpPr>
        <p:grpSpPr>
          <a:xfrm rot="0">
            <a:off x="10114280" y="4182211"/>
            <a:ext cx="6998061" cy="1521067"/>
            <a:chOff x="0" y="0"/>
            <a:chExt cx="2342659" cy="50919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342659" cy="509190"/>
            </a:xfrm>
            <a:custGeom>
              <a:avLst/>
              <a:gdLst/>
              <a:ahLst/>
              <a:cxnLst/>
              <a:rect l="l" t="t" r="r" b="b"/>
              <a:pathLst>
                <a:path w="2342659" h="509190">
                  <a:moveTo>
                    <a:pt x="16594" y="0"/>
                  </a:moveTo>
                  <a:lnTo>
                    <a:pt x="2326064" y="0"/>
                  </a:lnTo>
                  <a:cubicBezTo>
                    <a:pt x="2335229" y="0"/>
                    <a:pt x="2342659" y="7430"/>
                    <a:pt x="2342659" y="16594"/>
                  </a:cubicBezTo>
                  <a:lnTo>
                    <a:pt x="2342659" y="492595"/>
                  </a:lnTo>
                  <a:cubicBezTo>
                    <a:pt x="2342659" y="496996"/>
                    <a:pt x="2340910" y="501217"/>
                    <a:pt x="2337798" y="504329"/>
                  </a:cubicBezTo>
                  <a:cubicBezTo>
                    <a:pt x="2334686" y="507441"/>
                    <a:pt x="2330465" y="509190"/>
                    <a:pt x="2326064" y="509190"/>
                  </a:cubicBezTo>
                  <a:lnTo>
                    <a:pt x="16594" y="509190"/>
                  </a:lnTo>
                  <a:cubicBezTo>
                    <a:pt x="7430" y="509190"/>
                    <a:pt x="0" y="501760"/>
                    <a:pt x="0" y="492595"/>
                  </a:cubicBezTo>
                  <a:lnTo>
                    <a:pt x="0" y="16594"/>
                  </a:lnTo>
                  <a:cubicBezTo>
                    <a:pt x="0" y="7430"/>
                    <a:pt x="7430" y="0"/>
                    <a:pt x="16594" y="0"/>
                  </a:cubicBezTo>
                  <a:close/>
                </a:path>
              </a:pathLst>
            </a:custGeom>
            <a:solidFill>
              <a:srgbClr val="8AB7E2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85725"/>
              <a:ext cx="2342659" cy="4234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0491672" y="2599420"/>
            <a:ext cx="1578952" cy="10344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80"/>
              </a:lnSpc>
            </a:pPr>
            <a:r>
              <a:rPr lang="en-US" sz="8000" spc="-65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02.</a:t>
            </a:r>
            <a:endParaRPr lang="en-US" sz="8000" spc="-656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0491672" y="4479538"/>
            <a:ext cx="1578952" cy="10344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80"/>
              </a:lnSpc>
            </a:pPr>
            <a:r>
              <a:rPr lang="en-US" sz="8000" spc="-65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03.</a:t>
            </a:r>
            <a:endParaRPr lang="en-US" sz="8000" spc="-656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1888252" y="427673"/>
            <a:ext cx="4132127" cy="1183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890"/>
              </a:lnSpc>
              <a:spcBef>
                <a:spcPct val="0"/>
              </a:spcBef>
            </a:pPr>
            <a:r>
              <a:rPr lang="en-US" sz="1400" spc="2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Scalab</a:t>
            </a:r>
            <a:r>
              <a:rPr lang="en-US" sz="1400" u="none" spc="2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ility:</a:t>
            </a:r>
            <a:endParaRPr lang="en-US" sz="1400" u="none" spc="22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just">
              <a:lnSpc>
                <a:spcPts val="1890"/>
              </a:lnSpc>
              <a:spcBef>
                <a:spcPct val="0"/>
              </a:spcBef>
            </a:pPr>
            <a:r>
              <a:rPr lang="en-US" sz="1400" u="none" spc="2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Automatically increases or decreases the number of app instances based on traffic.</a:t>
            </a:r>
            <a:endParaRPr lang="en-US" sz="1400" u="none" spc="22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just">
              <a:lnSpc>
                <a:spcPts val="1890"/>
              </a:lnSpc>
              <a:spcBef>
                <a:spcPct val="0"/>
              </a:spcBef>
            </a:pPr>
            <a:r>
              <a:rPr lang="en-US" sz="1400" u="none" spc="2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Example: More users → Kubernetes adds more pods.</a:t>
            </a:r>
            <a:endParaRPr lang="en-US" sz="1400" u="none" spc="22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1888252" y="2427386"/>
            <a:ext cx="4132127" cy="944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890"/>
              </a:lnSpc>
              <a:spcBef>
                <a:spcPct val="0"/>
              </a:spcBef>
            </a:pPr>
            <a:r>
              <a:rPr lang="en-US" sz="1400" spc="2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</a:t>
            </a:r>
            <a:r>
              <a:rPr lang="en-US" sz="1400" u="none" spc="2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elf-Healing:</a:t>
            </a:r>
            <a:endParaRPr lang="en-US" sz="1400" u="none" spc="22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just">
              <a:lnSpc>
                <a:spcPts val="1890"/>
              </a:lnSpc>
              <a:spcBef>
                <a:spcPct val="0"/>
              </a:spcBef>
            </a:pPr>
            <a:r>
              <a:rPr lang="en-US" sz="1400" u="none" spc="2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Restarts apps if they crash or stop responding.</a:t>
            </a:r>
            <a:endParaRPr lang="en-US" sz="1400" u="none" spc="22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just">
              <a:lnSpc>
                <a:spcPts val="1890"/>
              </a:lnSpc>
              <a:spcBef>
                <a:spcPct val="0"/>
              </a:spcBef>
            </a:pPr>
            <a:r>
              <a:rPr lang="en-US" sz="1400" u="none" spc="2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Example: If a pod fails, Kubernetes creates a new one.</a:t>
            </a:r>
            <a:endParaRPr lang="en-US" sz="1400" u="none" spc="22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1888252" y="4437558"/>
            <a:ext cx="4132127" cy="944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890"/>
              </a:lnSpc>
              <a:spcBef>
                <a:spcPct val="0"/>
              </a:spcBef>
            </a:pPr>
            <a:r>
              <a:rPr lang="en-US" sz="1400" u="none" spc="2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Load Balancing:</a:t>
            </a:r>
            <a:endParaRPr lang="en-US" sz="1400" u="none" spc="22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just">
              <a:lnSpc>
                <a:spcPts val="1890"/>
              </a:lnSpc>
              <a:spcBef>
                <a:spcPct val="0"/>
              </a:spcBef>
            </a:pPr>
            <a:r>
              <a:rPr lang="en-US" sz="1400" u="none" spc="2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Distributes user traffic evenly to avoid overload.</a:t>
            </a:r>
            <a:endParaRPr lang="en-US" sz="1400" u="none" spc="22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just">
              <a:lnSpc>
                <a:spcPts val="1890"/>
              </a:lnSpc>
              <a:spcBef>
                <a:spcPct val="0"/>
              </a:spcBef>
            </a:pPr>
            <a:r>
              <a:rPr lang="en-US" sz="1400" u="none" spc="2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Example: 3 pods running → Kubernetes spreads traffic across all.</a:t>
            </a:r>
            <a:endParaRPr lang="en-US" sz="1400" u="none" spc="22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9" name="Freeform 19"/>
          <p:cNvSpPr/>
          <p:nvPr/>
        </p:nvSpPr>
        <p:spPr>
          <a:xfrm>
            <a:off x="-848571" y="8919661"/>
            <a:ext cx="3870946" cy="950141"/>
          </a:xfrm>
          <a:custGeom>
            <a:avLst/>
            <a:gdLst/>
            <a:ahLst/>
            <a:cxnLst/>
            <a:rect l="l" t="t" r="r" b="b"/>
            <a:pathLst>
              <a:path w="3870946" h="950141">
                <a:moveTo>
                  <a:pt x="0" y="0"/>
                </a:moveTo>
                <a:lnTo>
                  <a:pt x="3870946" y="0"/>
                </a:lnTo>
                <a:lnTo>
                  <a:pt x="3870946" y="950141"/>
                </a:lnTo>
                <a:lnTo>
                  <a:pt x="0" y="950141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4472906" y="-2364815"/>
            <a:ext cx="4980952" cy="3731186"/>
          </a:xfrm>
          <a:custGeom>
            <a:avLst/>
            <a:gdLst/>
            <a:ahLst/>
            <a:cxnLst/>
            <a:rect l="l" t="t" r="r" b="b"/>
            <a:pathLst>
              <a:path w="4980952" h="3731186">
                <a:moveTo>
                  <a:pt x="0" y="0"/>
                </a:moveTo>
                <a:lnTo>
                  <a:pt x="4980951" y="0"/>
                </a:lnTo>
                <a:lnTo>
                  <a:pt x="4980951" y="3731186"/>
                </a:lnTo>
                <a:lnTo>
                  <a:pt x="0" y="373118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1" name="Freeform 21"/>
          <p:cNvSpPr/>
          <p:nvPr/>
        </p:nvSpPr>
        <p:spPr>
          <a:xfrm>
            <a:off x="3431074" y="8919661"/>
            <a:ext cx="2587020" cy="2386526"/>
          </a:xfrm>
          <a:custGeom>
            <a:avLst/>
            <a:gdLst/>
            <a:ahLst/>
            <a:cxnLst/>
            <a:rect l="l" t="t" r="r" b="b"/>
            <a:pathLst>
              <a:path w="2587020" h="2386526">
                <a:moveTo>
                  <a:pt x="0" y="0"/>
                </a:moveTo>
                <a:lnTo>
                  <a:pt x="2587019" y="0"/>
                </a:lnTo>
                <a:lnTo>
                  <a:pt x="2587019" y="2386525"/>
                </a:lnTo>
                <a:lnTo>
                  <a:pt x="0" y="238652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2" name="Freeform 22"/>
          <p:cNvSpPr/>
          <p:nvPr/>
        </p:nvSpPr>
        <p:spPr>
          <a:xfrm>
            <a:off x="-848571" y="-744412"/>
            <a:ext cx="2597326" cy="2796583"/>
          </a:xfrm>
          <a:custGeom>
            <a:avLst/>
            <a:gdLst/>
            <a:ahLst/>
            <a:cxnLst/>
            <a:rect l="l" t="t" r="r" b="b"/>
            <a:pathLst>
              <a:path w="2597326" h="2796583">
                <a:moveTo>
                  <a:pt x="0" y="0"/>
                </a:moveTo>
                <a:lnTo>
                  <a:pt x="2597327" y="0"/>
                </a:lnTo>
                <a:lnTo>
                  <a:pt x="2597327" y="2796583"/>
                </a:lnTo>
                <a:lnTo>
                  <a:pt x="0" y="279658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23" name="Group 23"/>
          <p:cNvGrpSpPr/>
          <p:nvPr/>
        </p:nvGrpSpPr>
        <p:grpSpPr>
          <a:xfrm rot="0">
            <a:off x="10114280" y="6094985"/>
            <a:ext cx="6998061" cy="1557806"/>
            <a:chOff x="0" y="0"/>
            <a:chExt cx="2342659" cy="521488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2342659" cy="521488"/>
            </a:xfrm>
            <a:custGeom>
              <a:avLst/>
              <a:gdLst/>
              <a:ahLst/>
              <a:cxnLst/>
              <a:rect l="l" t="t" r="r" b="b"/>
              <a:pathLst>
                <a:path w="2342659" h="521488">
                  <a:moveTo>
                    <a:pt x="16594" y="0"/>
                  </a:moveTo>
                  <a:lnTo>
                    <a:pt x="2326064" y="0"/>
                  </a:lnTo>
                  <a:cubicBezTo>
                    <a:pt x="2335229" y="0"/>
                    <a:pt x="2342659" y="7430"/>
                    <a:pt x="2342659" y="16594"/>
                  </a:cubicBezTo>
                  <a:lnTo>
                    <a:pt x="2342659" y="504894"/>
                  </a:lnTo>
                  <a:cubicBezTo>
                    <a:pt x="2342659" y="514059"/>
                    <a:pt x="2335229" y="521488"/>
                    <a:pt x="2326064" y="521488"/>
                  </a:cubicBezTo>
                  <a:lnTo>
                    <a:pt x="16594" y="521488"/>
                  </a:lnTo>
                  <a:cubicBezTo>
                    <a:pt x="7430" y="521488"/>
                    <a:pt x="0" y="514059"/>
                    <a:pt x="0" y="504894"/>
                  </a:cubicBezTo>
                  <a:lnTo>
                    <a:pt x="0" y="16594"/>
                  </a:lnTo>
                  <a:cubicBezTo>
                    <a:pt x="0" y="7430"/>
                    <a:pt x="7430" y="0"/>
                    <a:pt x="16594" y="0"/>
                  </a:cubicBezTo>
                  <a:close/>
                </a:path>
              </a:pathLst>
            </a:custGeom>
            <a:solidFill>
              <a:srgbClr val="8AB7E2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0" y="85725"/>
              <a:ext cx="2342659" cy="4357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grpSp>
        <p:nvGrpSpPr>
          <p:cNvPr id="26" name="Group 26"/>
          <p:cNvGrpSpPr/>
          <p:nvPr/>
        </p:nvGrpSpPr>
        <p:grpSpPr>
          <a:xfrm rot="0">
            <a:off x="10114280" y="8133120"/>
            <a:ext cx="6998061" cy="1677650"/>
            <a:chOff x="0" y="0"/>
            <a:chExt cx="2342659" cy="561607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2342659" cy="561607"/>
            </a:xfrm>
            <a:custGeom>
              <a:avLst/>
              <a:gdLst/>
              <a:ahLst/>
              <a:cxnLst/>
              <a:rect l="l" t="t" r="r" b="b"/>
              <a:pathLst>
                <a:path w="2342659" h="561607">
                  <a:moveTo>
                    <a:pt x="16594" y="0"/>
                  </a:moveTo>
                  <a:lnTo>
                    <a:pt x="2326064" y="0"/>
                  </a:lnTo>
                  <a:cubicBezTo>
                    <a:pt x="2335229" y="0"/>
                    <a:pt x="2342659" y="7430"/>
                    <a:pt x="2342659" y="16594"/>
                  </a:cubicBezTo>
                  <a:lnTo>
                    <a:pt x="2342659" y="545013"/>
                  </a:lnTo>
                  <a:cubicBezTo>
                    <a:pt x="2342659" y="554178"/>
                    <a:pt x="2335229" y="561607"/>
                    <a:pt x="2326064" y="561607"/>
                  </a:cubicBezTo>
                  <a:lnTo>
                    <a:pt x="16594" y="561607"/>
                  </a:lnTo>
                  <a:cubicBezTo>
                    <a:pt x="7430" y="561607"/>
                    <a:pt x="0" y="554178"/>
                    <a:pt x="0" y="545013"/>
                  </a:cubicBezTo>
                  <a:lnTo>
                    <a:pt x="0" y="16594"/>
                  </a:lnTo>
                  <a:cubicBezTo>
                    <a:pt x="0" y="7430"/>
                    <a:pt x="7430" y="0"/>
                    <a:pt x="16594" y="0"/>
                  </a:cubicBezTo>
                  <a:close/>
                </a:path>
              </a:pathLst>
            </a:custGeom>
            <a:solidFill>
              <a:srgbClr val="8AB7E2"/>
            </a:solidFill>
          </p:spPr>
        </p:sp>
        <p:sp>
          <p:nvSpPr>
            <p:cNvPr id="28" name="TextBox 28"/>
            <p:cNvSpPr txBox="1"/>
            <p:nvPr/>
          </p:nvSpPr>
          <p:spPr>
            <a:xfrm>
              <a:off x="0" y="85725"/>
              <a:ext cx="2342659" cy="4758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10491672" y="6514085"/>
            <a:ext cx="1578952" cy="10344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80"/>
              </a:lnSpc>
            </a:pPr>
            <a:r>
              <a:rPr lang="en-US" sz="8000" spc="-65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04.</a:t>
            </a:r>
            <a:endParaRPr lang="en-US" sz="8000" spc="-656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10491672" y="8636007"/>
            <a:ext cx="1578952" cy="10344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80"/>
              </a:lnSpc>
            </a:pPr>
            <a:r>
              <a:rPr lang="en-US" sz="8000" spc="-65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05.</a:t>
            </a:r>
            <a:endParaRPr lang="en-US" sz="8000" spc="-656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11888252" y="6493006"/>
            <a:ext cx="4132127" cy="944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890"/>
              </a:lnSpc>
              <a:spcBef>
                <a:spcPct val="0"/>
              </a:spcBef>
            </a:pPr>
            <a:r>
              <a:rPr lang="en-US" sz="1400" spc="2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</a:t>
            </a:r>
            <a:r>
              <a:rPr lang="en-US" sz="1400" u="none" spc="2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asy Updates:</a:t>
            </a:r>
            <a:endParaRPr lang="en-US" sz="1400" u="none" spc="22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just">
              <a:lnSpc>
                <a:spcPts val="1890"/>
              </a:lnSpc>
              <a:spcBef>
                <a:spcPct val="0"/>
              </a:spcBef>
            </a:pPr>
            <a:r>
              <a:rPr lang="en-US" sz="1400" u="none" spc="2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Deploy new versions without stopping the app (rolling updates).</a:t>
            </a:r>
            <a:endParaRPr lang="en-US" sz="1400" u="none" spc="22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just">
              <a:lnSpc>
                <a:spcPts val="1890"/>
              </a:lnSpc>
              <a:spcBef>
                <a:spcPct val="0"/>
              </a:spcBef>
            </a:pPr>
            <a:r>
              <a:rPr lang="en-US" sz="1400" u="none" spc="2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Example: Update your API v1 → v2 smoothly.</a:t>
            </a:r>
            <a:endParaRPr lang="en-US" sz="1400" u="none" spc="22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11888252" y="8696628"/>
            <a:ext cx="4132127" cy="1183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02260" lvl="1" indent="-151130" algn="just">
              <a:lnSpc>
                <a:spcPts val="1890"/>
              </a:lnSpc>
              <a:spcBef>
                <a:spcPct val="0"/>
              </a:spcBef>
              <a:buFont typeface="Arial" panose="020B0604020202090204"/>
              <a:buChar char="•"/>
            </a:pPr>
            <a:r>
              <a:rPr lang="en-US" sz="1400" spc="2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Re</a:t>
            </a:r>
            <a:r>
              <a:rPr lang="en-US" sz="1400" u="none" spc="2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source Efficiency:</a:t>
            </a:r>
            <a:endParaRPr lang="en-US" sz="1400" u="none" spc="22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302260" lvl="1" indent="-151130" algn="just">
              <a:lnSpc>
                <a:spcPts val="1890"/>
              </a:lnSpc>
              <a:spcBef>
                <a:spcPct val="0"/>
              </a:spcBef>
              <a:buFont typeface="Arial" panose="020B0604020202090204"/>
              <a:buChar char="•"/>
            </a:pPr>
            <a:r>
              <a:rPr lang="en-US" sz="1400" u="none" spc="2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Uses CPU &amp; memory wisely by placing pods on the best nodes.</a:t>
            </a:r>
            <a:endParaRPr lang="en-US" sz="1400" u="none" spc="22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just">
              <a:lnSpc>
                <a:spcPts val="1890"/>
              </a:lnSpc>
              <a:spcBef>
                <a:spcPct val="0"/>
              </a:spcBef>
            </a:pPr>
          </a:p>
          <a:p>
            <a:pPr marL="0" lvl="0" indent="0" algn="just">
              <a:lnSpc>
                <a:spcPts val="1890"/>
              </a:lnSpc>
              <a:spcBef>
                <a:spcPct val="0"/>
              </a:spcBef>
            </a:p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078075" y="1267971"/>
            <a:ext cx="4208573" cy="4247184"/>
          </a:xfrm>
          <a:custGeom>
            <a:avLst/>
            <a:gdLst/>
            <a:ahLst/>
            <a:cxnLst/>
            <a:rect l="l" t="t" r="r" b="b"/>
            <a:pathLst>
              <a:path w="4208573" h="4247184">
                <a:moveTo>
                  <a:pt x="0" y="0"/>
                </a:moveTo>
                <a:lnTo>
                  <a:pt x="4208574" y="0"/>
                </a:lnTo>
                <a:lnTo>
                  <a:pt x="4208574" y="4247184"/>
                </a:lnTo>
                <a:lnTo>
                  <a:pt x="0" y="4247184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Freeform 3"/>
          <p:cNvSpPr/>
          <p:nvPr/>
        </p:nvSpPr>
        <p:spPr>
          <a:xfrm>
            <a:off x="10857087" y="1879538"/>
            <a:ext cx="5956731" cy="6527925"/>
          </a:xfrm>
          <a:custGeom>
            <a:avLst/>
            <a:gdLst/>
            <a:ahLst/>
            <a:cxnLst/>
            <a:rect l="l" t="t" r="r" b="b"/>
            <a:pathLst>
              <a:path w="5956731" h="6527925">
                <a:moveTo>
                  <a:pt x="0" y="0"/>
                </a:moveTo>
                <a:lnTo>
                  <a:pt x="5956731" y="0"/>
                </a:lnTo>
                <a:lnTo>
                  <a:pt x="5956731" y="6527924"/>
                </a:lnTo>
                <a:lnTo>
                  <a:pt x="0" y="65279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504950" y="344142"/>
            <a:ext cx="8386010" cy="4491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730"/>
              </a:lnSpc>
            </a:pPr>
            <a:r>
              <a:rPr lang="en-US" sz="9000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Are Kubernetes and Docker the same?</a:t>
            </a:r>
            <a:endParaRPr lang="en-US" sz="9000" b="1">
              <a:solidFill>
                <a:srgbClr val="000000"/>
              </a:solidFill>
              <a:latin typeface="DM Sans Bold"/>
              <a:ea typeface="DM Sans Bold"/>
              <a:cs typeface="DM Sans Bold"/>
              <a:sym typeface="DM Sans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504950" y="4807557"/>
            <a:ext cx="7707571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00"/>
              </a:lnSpc>
              <a:spcBef>
                <a:spcPct val="0"/>
              </a:spcBef>
            </a:pPr>
            <a:r>
              <a:rPr lang="en-US" sz="2000" spc="11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N</a:t>
            </a:r>
            <a:r>
              <a:rPr lang="en-US" sz="2000" u="none" spc="11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o — they do different jobs but often work together.</a:t>
            </a:r>
            <a:endParaRPr lang="en-US" sz="2000" u="none" spc="119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436429" y="5191305"/>
            <a:ext cx="7707571" cy="2324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00"/>
              </a:lnSpc>
              <a:spcBef>
                <a:spcPct val="0"/>
              </a:spcBef>
            </a:pPr>
            <a:r>
              <a:rPr lang="en-US" sz="2000" b="1" spc="11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D</a:t>
            </a:r>
            <a:r>
              <a:rPr lang="en-US" sz="2000" b="1" u="none" spc="11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ocker</a:t>
            </a:r>
            <a:endParaRPr lang="en-US" sz="2000" b="1" u="none" spc="119">
              <a:solidFill>
                <a:srgbClr val="000000"/>
              </a:solidFill>
              <a:latin typeface="DM Sans Bold"/>
              <a:ea typeface="DM Sans Bold"/>
              <a:cs typeface="DM Sans Bold"/>
              <a:sym typeface="DM Sans Bold"/>
            </a:endParaRPr>
          </a:p>
          <a:p>
            <a:pPr marL="431800" lvl="1" indent="-215900" algn="l">
              <a:lnSpc>
                <a:spcPts val="2700"/>
              </a:lnSpc>
              <a:spcBef>
                <a:spcPct val="0"/>
              </a:spcBef>
              <a:buFont typeface="Arial" panose="020B0604020202090204"/>
              <a:buChar char="•"/>
            </a:pPr>
            <a:r>
              <a:rPr lang="en-US" sz="2000" u="none" spc="11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 tool used to package applications into containers</a:t>
            </a:r>
            <a:endParaRPr lang="en-US" sz="2000" u="none" spc="119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31800" lvl="1" indent="-215900" algn="l">
              <a:lnSpc>
                <a:spcPts val="2700"/>
              </a:lnSpc>
              <a:spcBef>
                <a:spcPct val="0"/>
              </a:spcBef>
              <a:buFont typeface="Arial" panose="020B0604020202090204"/>
              <a:buChar char="•"/>
            </a:pPr>
            <a:r>
              <a:rPr lang="en-US" sz="2000" u="none" spc="11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Helps you create and run containers</a:t>
            </a:r>
            <a:endParaRPr lang="en-US" sz="2000" u="none" spc="119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31800" lvl="1" indent="-215900" algn="l">
              <a:lnSpc>
                <a:spcPts val="2700"/>
              </a:lnSpc>
              <a:spcBef>
                <a:spcPct val="0"/>
              </a:spcBef>
              <a:buFont typeface="Arial" panose="020B0604020202090204"/>
              <a:buChar char="•"/>
            </a:pPr>
            <a:r>
              <a:rPr lang="en-US" sz="2000" u="none" spc="11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Focuses on one machine at a time</a:t>
            </a:r>
            <a:endParaRPr lang="en-US" sz="2000" u="none" spc="119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>
              <a:lnSpc>
                <a:spcPts val="2700"/>
              </a:lnSpc>
              <a:spcBef>
                <a:spcPct val="0"/>
              </a:spcBef>
            </a:pPr>
            <a:r>
              <a:rPr lang="en-US" sz="2000" b="1" u="none" spc="11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Example</a:t>
            </a:r>
            <a:r>
              <a:rPr lang="en-US" sz="2000" u="none" spc="11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:</a:t>
            </a:r>
            <a:endParaRPr lang="en-US" sz="2000" u="none" spc="119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>
              <a:lnSpc>
                <a:spcPts val="2700"/>
              </a:lnSpc>
              <a:spcBef>
                <a:spcPct val="0"/>
              </a:spcBef>
            </a:pPr>
            <a:r>
              <a:rPr lang="en-US" sz="2000" u="none" spc="11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You package your app into a container using Docker.</a:t>
            </a:r>
            <a:endParaRPr lang="en-US" sz="2000" u="none" spc="119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>
              <a:lnSpc>
                <a:spcPts val="2700"/>
              </a:lnSpc>
              <a:spcBef>
                <a:spcPct val="0"/>
              </a:spcBef>
            </a:pPr>
          </a:p>
        </p:txBody>
      </p:sp>
      <p:sp>
        <p:nvSpPr>
          <p:cNvPr id="7" name="TextBox 7"/>
          <p:cNvSpPr txBox="1"/>
          <p:nvPr/>
        </p:nvSpPr>
        <p:spPr>
          <a:xfrm>
            <a:off x="1276058" y="7486830"/>
            <a:ext cx="7707571" cy="2769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00"/>
              </a:lnSpc>
              <a:spcBef>
                <a:spcPct val="0"/>
              </a:spcBef>
            </a:pPr>
            <a:r>
              <a:rPr lang="en-US" sz="2000" b="1" spc="11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Kub</a:t>
            </a:r>
            <a:r>
              <a:rPr lang="en-US" sz="2000" b="1" u="none" spc="11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ernetes</a:t>
            </a:r>
            <a:endParaRPr lang="en-US" sz="2000" b="1" u="none" spc="119">
              <a:solidFill>
                <a:srgbClr val="000000"/>
              </a:solidFill>
              <a:latin typeface="DM Sans Bold"/>
              <a:ea typeface="DM Sans Bold"/>
              <a:cs typeface="DM Sans Bold"/>
              <a:sym typeface="DM Sans Bold"/>
            </a:endParaRPr>
          </a:p>
          <a:p>
            <a:pPr marL="431800" lvl="1" indent="-215900" algn="l">
              <a:lnSpc>
                <a:spcPts val="2700"/>
              </a:lnSpc>
              <a:spcBef>
                <a:spcPct val="0"/>
              </a:spcBef>
              <a:buFont typeface="Arial" panose="020B0604020202090204"/>
              <a:buChar char="•"/>
            </a:pPr>
            <a:r>
              <a:rPr lang="en-US" sz="2000" u="none" spc="11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 system that manages many Docker containers across many machines</a:t>
            </a:r>
            <a:endParaRPr lang="en-US" sz="2000" u="none" spc="119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31800" lvl="1" indent="-215900" algn="l">
              <a:lnSpc>
                <a:spcPts val="2700"/>
              </a:lnSpc>
              <a:spcBef>
                <a:spcPct val="0"/>
              </a:spcBef>
              <a:buFont typeface="Arial" panose="020B0604020202090204"/>
              <a:buChar char="•"/>
            </a:pPr>
            <a:r>
              <a:rPr lang="en-US" sz="2000" u="none" spc="11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Handles scaling, healing, networking, and deployments</a:t>
            </a:r>
            <a:endParaRPr lang="en-US" sz="2000" u="none" spc="119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31800" lvl="1" indent="-215900" algn="l">
              <a:lnSpc>
                <a:spcPts val="2700"/>
              </a:lnSpc>
              <a:spcBef>
                <a:spcPct val="0"/>
              </a:spcBef>
              <a:buFont typeface="Arial" panose="020B0604020202090204"/>
              <a:buChar char="•"/>
            </a:pPr>
            <a:r>
              <a:rPr lang="en-US" sz="2000" u="none" spc="11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Focuses on running containers in large clusters</a:t>
            </a:r>
            <a:endParaRPr lang="en-US" sz="2000" u="none" spc="119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>
              <a:lnSpc>
                <a:spcPts val="2700"/>
              </a:lnSpc>
              <a:spcBef>
                <a:spcPct val="0"/>
              </a:spcBef>
            </a:pPr>
            <a:r>
              <a:rPr lang="en-US" sz="2000" u="none" spc="11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run and where.</a:t>
            </a:r>
            <a:endParaRPr lang="en-US" sz="2000" u="none" spc="119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>
              <a:lnSpc>
                <a:spcPts val="2700"/>
              </a:lnSpc>
              <a:spcBef>
                <a:spcPct val="0"/>
              </a:spcBef>
            </a:p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886757" y="5074942"/>
            <a:ext cx="20061513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" name="Group 3"/>
          <p:cNvGrpSpPr/>
          <p:nvPr/>
        </p:nvGrpSpPr>
        <p:grpSpPr>
          <a:xfrm rot="0">
            <a:off x="8892972" y="4889932"/>
            <a:ext cx="502056" cy="502056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90500" y="219075"/>
              <a:ext cx="431800" cy="403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65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6" name="Group 6"/>
          <p:cNvGrpSpPr/>
          <p:nvPr/>
        </p:nvGrpSpPr>
        <p:grpSpPr>
          <a:xfrm rot="0">
            <a:off x="2227066" y="4823914"/>
            <a:ext cx="502056" cy="502056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190500" y="219075"/>
              <a:ext cx="431800" cy="403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65"/>
                </a:lnSpc>
              </a:pPr>
            </a:p>
          </p:txBody>
        </p:sp>
      </p:grpSp>
      <p:grpSp>
        <p:nvGrpSpPr>
          <p:cNvPr id="9" name="Group 9"/>
          <p:cNvGrpSpPr/>
          <p:nvPr/>
        </p:nvGrpSpPr>
        <p:grpSpPr>
          <a:xfrm rot="0">
            <a:off x="14760899" y="4889932"/>
            <a:ext cx="502056" cy="502056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90500" y="219075"/>
              <a:ext cx="431800" cy="403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65"/>
                </a:lnSpc>
                <a:spcBef>
                  <a:spcPct val="0"/>
                </a:spcBef>
              </a:pP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3685423" y="1354989"/>
            <a:ext cx="11577532" cy="3387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8730"/>
              </a:lnSpc>
              <a:spcBef>
                <a:spcPct val="0"/>
              </a:spcBef>
            </a:pPr>
            <a:r>
              <a:rPr lang="en-US" sz="9000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Kubernetes: Pods, Deployments &amp; Services</a:t>
            </a:r>
            <a:endParaRPr lang="en-US" sz="9000" b="1">
              <a:solidFill>
                <a:srgbClr val="000000"/>
              </a:solidFill>
              <a:latin typeface="DM Sans Bold"/>
              <a:ea typeface="DM Sans Bold"/>
              <a:cs typeface="DM Sans Bold"/>
              <a:sym typeface="DM Sans 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630461" y="5551968"/>
            <a:ext cx="2197323" cy="6794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50"/>
              </a:lnSpc>
            </a:pPr>
            <a:r>
              <a:rPr lang="en-US" sz="5000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Pods</a:t>
            </a:r>
            <a:endParaRPr lang="en-US" sz="5000" b="1">
              <a:solidFill>
                <a:srgbClr val="000000"/>
              </a:solidFill>
              <a:latin typeface="DM Sans Bold"/>
              <a:ea typeface="DM Sans Bold"/>
              <a:cs typeface="DM Sans Bold"/>
              <a:sym typeface="DM Sans Bold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7200327" y="5553913"/>
            <a:ext cx="3887345" cy="6794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50"/>
              </a:lnSpc>
            </a:pPr>
            <a:r>
              <a:rPr lang="en-US" sz="5000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Deployment</a:t>
            </a:r>
            <a:endParaRPr lang="en-US" sz="5000" b="1">
              <a:solidFill>
                <a:srgbClr val="000000"/>
              </a:solidFill>
              <a:latin typeface="DM Sans Bold"/>
              <a:ea typeface="DM Sans Bold"/>
              <a:cs typeface="DM Sans Bold"/>
              <a:sym typeface="DM Sans Bold"/>
            </a:endParaRPr>
          </a:p>
        </p:txBody>
      </p:sp>
      <p:sp>
        <p:nvSpPr>
          <p:cNvPr id="15" name="Freeform 15"/>
          <p:cNvSpPr/>
          <p:nvPr/>
        </p:nvSpPr>
        <p:spPr>
          <a:xfrm>
            <a:off x="2932282" y="9271808"/>
            <a:ext cx="2587020" cy="2386526"/>
          </a:xfrm>
          <a:custGeom>
            <a:avLst/>
            <a:gdLst/>
            <a:ahLst/>
            <a:cxnLst/>
            <a:rect l="l" t="t" r="r" b="b"/>
            <a:pathLst>
              <a:path w="2587020" h="2386526">
                <a:moveTo>
                  <a:pt x="0" y="0"/>
                </a:moveTo>
                <a:lnTo>
                  <a:pt x="2587020" y="0"/>
                </a:lnTo>
                <a:lnTo>
                  <a:pt x="2587020" y="2386526"/>
                </a:lnTo>
                <a:lnTo>
                  <a:pt x="0" y="2386526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6" name="TextBox 16"/>
          <p:cNvSpPr txBox="1"/>
          <p:nvPr/>
        </p:nvSpPr>
        <p:spPr>
          <a:xfrm>
            <a:off x="1616605" y="6324066"/>
            <a:ext cx="5052936" cy="3827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500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What</a:t>
            </a:r>
            <a:r>
              <a:rPr lang="en-US" sz="1500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 is a Pod?</a:t>
            </a:r>
            <a:endParaRPr lang="en-US" sz="1500" b="1">
              <a:solidFill>
                <a:srgbClr val="000000"/>
              </a:solidFill>
              <a:latin typeface="DM Sans Bold"/>
              <a:ea typeface="DM Sans Bold"/>
              <a:cs typeface="DM Sans Bold"/>
              <a:sym typeface="DM Sans Bold"/>
            </a:endParaRPr>
          </a:p>
          <a:p>
            <a:pPr marL="323850" lvl="1" indent="-161925" algn="l">
              <a:lnSpc>
                <a:spcPts val="2340"/>
              </a:lnSpc>
              <a:buFont typeface="Arial" panose="020B0604020202090204"/>
              <a:buChar char="•"/>
            </a:pPr>
            <a:r>
              <a:rPr lang="en-US" sz="15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The smallest unit in Kubernetes</a:t>
            </a:r>
            <a:endParaRPr lang="en-US" sz="150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323850" lvl="1" indent="-161925" algn="l">
              <a:lnSpc>
                <a:spcPts val="2340"/>
              </a:lnSpc>
              <a:buFont typeface="Arial" panose="020B0604020202090204"/>
              <a:buChar char="•"/>
            </a:pPr>
            <a:r>
              <a:rPr lang="en-US" sz="15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Contains one or more containers</a:t>
            </a:r>
            <a:endParaRPr lang="en-US" sz="150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323850" lvl="1" indent="-161925" algn="l">
              <a:lnSpc>
                <a:spcPts val="2340"/>
              </a:lnSpc>
              <a:buFont typeface="Arial" panose="020B0604020202090204"/>
              <a:buChar char="•"/>
            </a:pPr>
            <a:r>
              <a:rPr lang="en-US" sz="15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Containers inside a Pod share:</a:t>
            </a:r>
            <a:endParaRPr lang="en-US" sz="150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647700" lvl="2" indent="-215900" algn="l">
              <a:lnSpc>
                <a:spcPts val="2340"/>
              </a:lnSpc>
              <a:buFont typeface="Arial" panose="020B0604020202090204"/>
              <a:buChar char="⚬"/>
            </a:pPr>
            <a:r>
              <a:rPr lang="en-US" sz="15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Storage</a:t>
            </a:r>
            <a:endParaRPr lang="en-US" sz="150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647700" lvl="2" indent="-215900" algn="l">
              <a:lnSpc>
                <a:spcPts val="2340"/>
              </a:lnSpc>
              <a:buFont typeface="Arial" panose="020B0604020202090204"/>
              <a:buChar char="⚬"/>
            </a:pPr>
            <a:r>
              <a:rPr lang="en-US" sz="15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Network</a:t>
            </a:r>
            <a:endParaRPr lang="en-US" sz="150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647700" lvl="2" indent="-215900" algn="l">
              <a:lnSpc>
                <a:spcPts val="2340"/>
              </a:lnSpc>
              <a:buFont typeface="Arial" panose="020B0604020202090204"/>
              <a:buChar char="⚬"/>
            </a:pPr>
            <a:r>
              <a:rPr lang="en-US" sz="15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Lifecycle</a:t>
            </a:r>
            <a:endParaRPr lang="en-US" sz="150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algn="l">
              <a:lnSpc>
                <a:spcPts val="2340"/>
              </a:lnSpc>
            </a:pPr>
            <a:r>
              <a:rPr lang="en-US" sz="1500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Examples</a:t>
            </a:r>
            <a:r>
              <a:rPr lang="en-US" sz="15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:</a:t>
            </a:r>
            <a:endParaRPr lang="en-US" sz="150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323850" lvl="1" indent="-161925" algn="l">
              <a:lnSpc>
                <a:spcPts val="2340"/>
              </a:lnSpc>
              <a:buFont typeface="Arial" panose="020B0604020202090204"/>
              <a:buChar char="•"/>
            </a:pPr>
            <a:r>
              <a:rPr lang="en-US" sz="15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 Pod running a single Nginx container</a:t>
            </a:r>
            <a:endParaRPr lang="en-US" sz="150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323850" lvl="1" indent="-161925" algn="l">
              <a:lnSpc>
                <a:spcPts val="2340"/>
              </a:lnSpc>
              <a:buFont typeface="Arial" panose="020B0604020202090204"/>
              <a:buChar char="•"/>
            </a:pPr>
            <a:r>
              <a:rPr lang="en-US" sz="15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 Pod running:</a:t>
            </a:r>
            <a:endParaRPr lang="en-US" sz="150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647700" lvl="2" indent="-215900" algn="l">
              <a:lnSpc>
                <a:spcPts val="2340"/>
              </a:lnSpc>
              <a:buFont typeface="Arial" panose="020B0604020202090204"/>
              <a:buChar char="⚬"/>
            </a:pPr>
            <a:r>
              <a:rPr lang="en-US" sz="15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Python app container</a:t>
            </a:r>
            <a:endParaRPr lang="en-US" sz="150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647700" lvl="2" indent="-215900" algn="l">
              <a:lnSpc>
                <a:spcPts val="2340"/>
              </a:lnSpc>
              <a:buFont typeface="Arial" panose="020B0604020202090204"/>
              <a:buChar char="⚬"/>
            </a:pPr>
            <a:r>
              <a:rPr lang="en-US" sz="15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Logging sidecar container</a:t>
            </a:r>
            <a:endParaRPr lang="en-US" sz="150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algn="l">
              <a:lnSpc>
                <a:spcPts val="2340"/>
              </a:lnSpc>
            </a:pPr>
          </a:p>
        </p:txBody>
      </p:sp>
      <p:sp>
        <p:nvSpPr>
          <p:cNvPr id="17" name="TextBox 17"/>
          <p:cNvSpPr txBox="1"/>
          <p:nvPr/>
        </p:nvSpPr>
        <p:spPr>
          <a:xfrm>
            <a:off x="7200327" y="6490538"/>
            <a:ext cx="5580181" cy="3827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500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What</a:t>
            </a:r>
            <a:r>
              <a:rPr lang="en-US" sz="1500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 is a Deployment?</a:t>
            </a:r>
            <a:endParaRPr lang="en-US" sz="1500" b="1">
              <a:solidFill>
                <a:srgbClr val="000000"/>
              </a:solidFill>
              <a:latin typeface="DM Sans Bold"/>
              <a:ea typeface="DM Sans Bold"/>
              <a:cs typeface="DM Sans Bold"/>
              <a:sym typeface="DM Sans Bold"/>
            </a:endParaRPr>
          </a:p>
          <a:p>
            <a:pPr marL="323850" lvl="1" indent="-161925" algn="l">
              <a:lnSpc>
                <a:spcPts val="2340"/>
              </a:lnSpc>
              <a:buFont typeface="Arial" panose="020B0604020202090204"/>
              <a:buChar char="•"/>
            </a:pPr>
            <a:r>
              <a:rPr lang="en-US" sz="15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 Kubernetes controller that:</a:t>
            </a:r>
            <a:endParaRPr lang="en-US" sz="150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647700" lvl="2" indent="-215900" algn="l">
              <a:lnSpc>
                <a:spcPts val="2340"/>
              </a:lnSpc>
              <a:buFont typeface="Arial" panose="020B0604020202090204"/>
              <a:buChar char="⚬"/>
            </a:pPr>
            <a:r>
              <a:rPr lang="en-US" sz="15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Creates Pods</a:t>
            </a:r>
            <a:endParaRPr lang="en-US" sz="150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647700" lvl="2" indent="-215900" algn="l">
              <a:lnSpc>
                <a:spcPts val="2340"/>
              </a:lnSpc>
              <a:buFont typeface="Arial" panose="020B0604020202090204"/>
              <a:buChar char="⚬"/>
            </a:pPr>
            <a:r>
              <a:rPr lang="en-US" sz="15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Updates Pods</a:t>
            </a:r>
            <a:endParaRPr lang="en-US" sz="150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647700" lvl="2" indent="-215900" algn="l">
              <a:lnSpc>
                <a:spcPts val="2340"/>
              </a:lnSpc>
              <a:buFont typeface="Arial" panose="020B0604020202090204"/>
              <a:buChar char="⚬"/>
            </a:pPr>
            <a:r>
              <a:rPr lang="en-US" sz="15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Scales Pods</a:t>
            </a:r>
            <a:endParaRPr lang="en-US" sz="150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647700" lvl="2" indent="-215900" algn="l">
              <a:lnSpc>
                <a:spcPts val="2340"/>
              </a:lnSpc>
              <a:buFont typeface="Arial" panose="020B0604020202090204"/>
              <a:buChar char="⚬"/>
            </a:pPr>
            <a:r>
              <a:rPr lang="en-US" sz="15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Ensures the correct number of Pods are ALWAYS running</a:t>
            </a:r>
            <a:endParaRPr lang="en-US" sz="150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algn="l">
              <a:lnSpc>
                <a:spcPts val="2340"/>
              </a:lnSpc>
            </a:pPr>
            <a:r>
              <a:rPr lang="en-US" sz="1500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Examples</a:t>
            </a:r>
            <a:r>
              <a:rPr lang="en-US" sz="15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:</a:t>
            </a:r>
            <a:endParaRPr lang="en-US" sz="150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323850" lvl="1" indent="-161925" algn="l">
              <a:lnSpc>
                <a:spcPts val="2340"/>
              </a:lnSpc>
              <a:buFont typeface="Arial" panose="020B0604020202090204"/>
              <a:buChar char="•"/>
            </a:pPr>
            <a:r>
              <a:rPr lang="en-US" sz="15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Deployment running 3 replicas of a web server</a:t>
            </a:r>
            <a:endParaRPr lang="en-US" sz="150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323850" lvl="1" indent="-161925" algn="l">
              <a:lnSpc>
                <a:spcPts val="2340"/>
              </a:lnSpc>
              <a:buFont typeface="Arial" panose="020B0604020202090204"/>
              <a:buChar char="•"/>
            </a:pPr>
            <a:r>
              <a:rPr lang="en-US" sz="15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Rolling update from v1 → v2 of your app with zero downtime</a:t>
            </a:r>
            <a:endParaRPr lang="en-US" sz="150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algn="l">
              <a:lnSpc>
                <a:spcPts val="2340"/>
              </a:lnSpc>
            </a:pPr>
          </a:p>
          <a:p>
            <a:pPr algn="l">
              <a:lnSpc>
                <a:spcPts val="2340"/>
              </a:lnSpc>
            </a:pPr>
          </a:p>
        </p:txBody>
      </p:sp>
      <p:sp>
        <p:nvSpPr>
          <p:cNvPr id="18" name="TextBox 18"/>
          <p:cNvSpPr txBox="1"/>
          <p:nvPr/>
        </p:nvSpPr>
        <p:spPr>
          <a:xfrm>
            <a:off x="14164293" y="5616041"/>
            <a:ext cx="2737859" cy="6794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50"/>
              </a:lnSpc>
            </a:pPr>
            <a:r>
              <a:rPr lang="en-US" sz="5000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Services</a:t>
            </a:r>
            <a:endParaRPr lang="en-US" sz="5000" b="1">
              <a:solidFill>
                <a:srgbClr val="000000"/>
              </a:solidFill>
              <a:latin typeface="DM Sans Bold"/>
              <a:ea typeface="DM Sans Bold"/>
              <a:cs typeface="DM Sans Bold"/>
              <a:sym typeface="DM Sans Bold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3313909" y="6447891"/>
            <a:ext cx="4819021" cy="3827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500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What</a:t>
            </a:r>
            <a:r>
              <a:rPr lang="en-US" sz="1500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 is a Service?</a:t>
            </a:r>
            <a:endParaRPr lang="en-US" sz="1500" b="1">
              <a:solidFill>
                <a:srgbClr val="000000"/>
              </a:solidFill>
              <a:latin typeface="DM Sans Bold"/>
              <a:ea typeface="DM Sans Bold"/>
              <a:cs typeface="DM Sans Bold"/>
              <a:sym typeface="DM Sans Bold"/>
            </a:endParaRPr>
          </a:p>
          <a:p>
            <a:pPr marL="323850" lvl="1" indent="-161925" algn="l">
              <a:lnSpc>
                <a:spcPts val="2340"/>
              </a:lnSpc>
              <a:buFont typeface="Arial" panose="020B0604020202090204"/>
              <a:buChar char="•"/>
            </a:pPr>
            <a:r>
              <a:rPr lang="en-US" sz="15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 stable network endpoint that exposes Pods</a:t>
            </a:r>
            <a:endParaRPr lang="en-US" sz="150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323850" lvl="1" indent="-161925" algn="l">
              <a:lnSpc>
                <a:spcPts val="2340"/>
              </a:lnSpc>
              <a:buFont typeface="Arial" panose="020B0604020202090204"/>
              <a:buChar char="•"/>
            </a:pPr>
            <a:r>
              <a:rPr lang="en-US" sz="15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Even if Pods die and new ones come, the Service stays the same</a:t>
            </a:r>
            <a:endParaRPr lang="en-US" sz="150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323850" lvl="1" indent="-161925" algn="l">
              <a:lnSpc>
                <a:spcPts val="2340"/>
              </a:lnSpc>
              <a:buFont typeface="Arial" panose="020B0604020202090204"/>
              <a:buChar char="•"/>
            </a:pPr>
            <a:r>
              <a:rPr lang="en-US" sz="1500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Types</a:t>
            </a:r>
            <a:r>
              <a:rPr lang="en-US" sz="15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:</a:t>
            </a:r>
            <a:endParaRPr lang="en-US" sz="150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647700" lvl="2" indent="-215900" algn="l">
              <a:lnSpc>
                <a:spcPts val="2340"/>
              </a:lnSpc>
              <a:buFont typeface="Arial" panose="020B0604020202090204"/>
              <a:buChar char="⚬"/>
            </a:pPr>
            <a:r>
              <a:rPr lang="en-US" sz="15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ClusterIP – internal access</a:t>
            </a:r>
            <a:endParaRPr lang="en-US" sz="150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647700" lvl="2" indent="-215900" algn="l">
              <a:lnSpc>
                <a:spcPts val="2340"/>
              </a:lnSpc>
              <a:buFont typeface="Arial" panose="020B0604020202090204"/>
              <a:buChar char="⚬"/>
            </a:pPr>
            <a:r>
              <a:rPr lang="en-US" sz="15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NodePort – access via nodes</a:t>
            </a:r>
            <a:endParaRPr lang="en-US" sz="150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647700" lvl="2" indent="-215900" algn="l">
              <a:lnSpc>
                <a:spcPts val="2340"/>
              </a:lnSpc>
              <a:buFont typeface="Arial" panose="020B0604020202090204"/>
              <a:buChar char="⚬"/>
            </a:pPr>
            <a:r>
              <a:rPr lang="en-US" sz="15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LoadBalancer – external access</a:t>
            </a:r>
            <a:endParaRPr lang="en-US" sz="150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algn="l">
              <a:lnSpc>
                <a:spcPts val="2340"/>
              </a:lnSpc>
            </a:pPr>
            <a:r>
              <a:rPr lang="en-US" sz="1500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Example</a:t>
            </a:r>
            <a:r>
              <a:rPr lang="en-US" sz="15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:</a:t>
            </a:r>
            <a:endParaRPr lang="en-US" sz="150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algn="l">
              <a:lnSpc>
                <a:spcPts val="2340"/>
              </a:lnSpc>
            </a:pPr>
            <a:r>
              <a:rPr lang="en-US" sz="15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 Service exposing 3 web server Pods to the public internet.</a:t>
            </a:r>
            <a:endParaRPr lang="en-US" sz="150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algn="l">
              <a:lnSpc>
                <a:spcPts val="2340"/>
              </a:lnSpc>
            </a:pPr>
          </a:p>
          <a:p>
            <a:pPr algn="l">
              <a:lnSpc>
                <a:spcPts val="2340"/>
              </a:lnSpc>
            </a:pPr>
          </a:p>
        </p:txBody>
      </p:sp>
      <p:sp>
        <p:nvSpPr>
          <p:cNvPr id="20" name="Freeform 20"/>
          <p:cNvSpPr/>
          <p:nvPr/>
        </p:nvSpPr>
        <p:spPr>
          <a:xfrm>
            <a:off x="-1573240" y="8893298"/>
            <a:ext cx="4051334" cy="2765036"/>
          </a:xfrm>
          <a:custGeom>
            <a:avLst/>
            <a:gdLst/>
            <a:ahLst/>
            <a:cxnLst/>
            <a:rect l="l" t="t" r="r" b="b"/>
            <a:pathLst>
              <a:path w="4051334" h="2765036">
                <a:moveTo>
                  <a:pt x="0" y="0"/>
                </a:moveTo>
                <a:lnTo>
                  <a:pt x="4051334" y="0"/>
                </a:lnTo>
                <a:lnTo>
                  <a:pt x="4051334" y="2765036"/>
                </a:lnTo>
                <a:lnTo>
                  <a:pt x="0" y="276503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15262955" y="8864586"/>
            <a:ext cx="4602314" cy="3618569"/>
          </a:xfrm>
          <a:custGeom>
            <a:avLst/>
            <a:gdLst/>
            <a:ahLst/>
            <a:cxnLst/>
            <a:rect l="l" t="t" r="r" b="b"/>
            <a:pathLst>
              <a:path w="4602314" h="3618569">
                <a:moveTo>
                  <a:pt x="0" y="0"/>
                </a:moveTo>
                <a:lnTo>
                  <a:pt x="4602314" y="0"/>
                </a:lnTo>
                <a:lnTo>
                  <a:pt x="4602314" y="3618569"/>
                </a:lnTo>
                <a:lnTo>
                  <a:pt x="0" y="361856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2" name="Freeform 22"/>
          <p:cNvSpPr/>
          <p:nvPr/>
        </p:nvSpPr>
        <p:spPr>
          <a:xfrm>
            <a:off x="-674156" y="-1322787"/>
            <a:ext cx="4224468" cy="2645573"/>
          </a:xfrm>
          <a:custGeom>
            <a:avLst/>
            <a:gdLst/>
            <a:ahLst/>
            <a:cxnLst/>
            <a:rect l="l" t="t" r="r" b="b"/>
            <a:pathLst>
              <a:path w="4224468" h="2645573">
                <a:moveTo>
                  <a:pt x="0" y="0"/>
                </a:moveTo>
                <a:lnTo>
                  <a:pt x="4224468" y="0"/>
                </a:lnTo>
                <a:lnTo>
                  <a:pt x="4224468" y="2645574"/>
                </a:lnTo>
                <a:lnTo>
                  <a:pt x="0" y="264557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3" name="Freeform 23"/>
          <p:cNvSpPr/>
          <p:nvPr/>
        </p:nvSpPr>
        <p:spPr>
          <a:xfrm>
            <a:off x="11101574" y="9560661"/>
            <a:ext cx="3169280" cy="2226419"/>
          </a:xfrm>
          <a:custGeom>
            <a:avLst/>
            <a:gdLst/>
            <a:ahLst/>
            <a:cxnLst/>
            <a:rect l="l" t="t" r="r" b="b"/>
            <a:pathLst>
              <a:path w="3169280" h="2226419">
                <a:moveTo>
                  <a:pt x="0" y="0"/>
                </a:moveTo>
                <a:lnTo>
                  <a:pt x="3169280" y="0"/>
                </a:lnTo>
                <a:lnTo>
                  <a:pt x="3169280" y="2226419"/>
                </a:lnTo>
                <a:lnTo>
                  <a:pt x="0" y="222641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4" name="Freeform 24"/>
          <p:cNvSpPr/>
          <p:nvPr/>
        </p:nvSpPr>
        <p:spPr>
          <a:xfrm>
            <a:off x="9653627" y="-3037933"/>
            <a:ext cx="5493058" cy="4114800"/>
          </a:xfrm>
          <a:custGeom>
            <a:avLst/>
            <a:gdLst/>
            <a:ahLst/>
            <a:cxnLst/>
            <a:rect l="l" t="t" r="r" b="b"/>
            <a:pathLst>
              <a:path w="5493058" h="4114800">
                <a:moveTo>
                  <a:pt x="0" y="0"/>
                </a:moveTo>
                <a:lnTo>
                  <a:pt x="5493058" y="0"/>
                </a:lnTo>
                <a:lnTo>
                  <a:pt x="54930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5" name="Freeform 25"/>
          <p:cNvSpPr/>
          <p:nvPr/>
        </p:nvSpPr>
        <p:spPr>
          <a:xfrm rot="-5400000">
            <a:off x="4745771" y="-1877331"/>
            <a:ext cx="2892762" cy="2919301"/>
          </a:xfrm>
          <a:custGeom>
            <a:avLst/>
            <a:gdLst/>
            <a:ahLst/>
            <a:cxnLst/>
            <a:rect l="l" t="t" r="r" b="b"/>
            <a:pathLst>
              <a:path w="2892762" h="2919301">
                <a:moveTo>
                  <a:pt x="0" y="0"/>
                </a:moveTo>
                <a:lnTo>
                  <a:pt x="2892761" y="0"/>
                </a:lnTo>
                <a:lnTo>
                  <a:pt x="2892761" y="2919301"/>
                </a:lnTo>
                <a:lnTo>
                  <a:pt x="0" y="2919301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6" name="Freeform 26"/>
          <p:cNvSpPr/>
          <p:nvPr/>
        </p:nvSpPr>
        <p:spPr>
          <a:xfrm>
            <a:off x="15262955" y="-1072630"/>
            <a:ext cx="1996345" cy="2149497"/>
          </a:xfrm>
          <a:custGeom>
            <a:avLst/>
            <a:gdLst/>
            <a:ahLst/>
            <a:cxnLst/>
            <a:rect l="l" t="t" r="r" b="b"/>
            <a:pathLst>
              <a:path w="1996345" h="2149497">
                <a:moveTo>
                  <a:pt x="0" y="0"/>
                </a:moveTo>
                <a:lnTo>
                  <a:pt x="1996345" y="0"/>
                </a:lnTo>
                <a:lnTo>
                  <a:pt x="1996345" y="2149497"/>
                </a:lnTo>
                <a:lnTo>
                  <a:pt x="0" y="2149497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282649">
            <a:off x="753178" y="3852356"/>
            <a:ext cx="7567145" cy="2582288"/>
          </a:xfrm>
          <a:custGeom>
            <a:avLst/>
            <a:gdLst/>
            <a:ahLst/>
            <a:cxnLst/>
            <a:rect l="l" t="t" r="r" b="b"/>
            <a:pathLst>
              <a:path w="7567145" h="2582288">
                <a:moveTo>
                  <a:pt x="0" y="0"/>
                </a:moveTo>
                <a:lnTo>
                  <a:pt x="7567144" y="0"/>
                </a:lnTo>
                <a:lnTo>
                  <a:pt x="7567144" y="2582288"/>
                </a:lnTo>
                <a:lnTo>
                  <a:pt x="0" y="2582288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Freeform 3"/>
          <p:cNvSpPr/>
          <p:nvPr/>
        </p:nvSpPr>
        <p:spPr>
          <a:xfrm>
            <a:off x="1780231" y="2037564"/>
            <a:ext cx="5513037" cy="6211873"/>
          </a:xfrm>
          <a:custGeom>
            <a:avLst/>
            <a:gdLst/>
            <a:ahLst/>
            <a:cxnLst/>
            <a:rect l="l" t="t" r="r" b="b"/>
            <a:pathLst>
              <a:path w="5513037" h="6211873">
                <a:moveTo>
                  <a:pt x="0" y="0"/>
                </a:moveTo>
                <a:lnTo>
                  <a:pt x="5513038" y="0"/>
                </a:lnTo>
                <a:lnTo>
                  <a:pt x="5513038" y="6211872"/>
                </a:lnTo>
                <a:lnTo>
                  <a:pt x="0" y="62118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8512057" y="439269"/>
            <a:ext cx="8600285" cy="3387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730"/>
              </a:lnSpc>
            </a:pPr>
            <a:r>
              <a:rPr lang="en-US" sz="9000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Flow of a Kubernetes Application</a:t>
            </a:r>
            <a:endParaRPr lang="en-US" sz="9000" b="1">
              <a:solidFill>
                <a:srgbClr val="000000"/>
              </a:solidFill>
              <a:latin typeface="DM Sans Bold"/>
              <a:ea typeface="DM Sans Bold"/>
              <a:cs typeface="DM Sans Bold"/>
              <a:sym typeface="DM Sans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8512057" y="3915561"/>
            <a:ext cx="9269005" cy="4328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75"/>
              </a:lnSpc>
              <a:spcBef>
                <a:spcPct val="0"/>
              </a:spcBef>
            </a:pPr>
          </a:p>
          <a:p>
            <a:pPr marL="539750" lvl="1" indent="-269875" algn="l">
              <a:lnSpc>
                <a:spcPts val="3375"/>
              </a:lnSpc>
              <a:spcBef>
                <a:spcPct val="0"/>
              </a:spcBef>
              <a:buAutoNum type="arabicPeriod"/>
            </a:pPr>
            <a:r>
              <a:rPr lang="en-US" sz="2500" u="none" spc="14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Pods run your app</a:t>
            </a:r>
            <a:endParaRPr lang="en-US" sz="2500" u="none" spc="149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539750" lvl="1" indent="-269875" algn="l">
              <a:lnSpc>
                <a:spcPts val="3375"/>
              </a:lnSpc>
              <a:spcBef>
                <a:spcPct val="0"/>
              </a:spcBef>
              <a:buAutoNum type="arabicPeriod"/>
            </a:pPr>
            <a:r>
              <a:rPr lang="en-US" sz="2500" u="none" spc="14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Deployments manage number and health of Pods</a:t>
            </a:r>
            <a:endParaRPr lang="en-US" sz="2500" u="none" spc="149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539750" lvl="1" indent="-269875" algn="l">
              <a:lnSpc>
                <a:spcPts val="3375"/>
              </a:lnSpc>
              <a:spcBef>
                <a:spcPct val="0"/>
              </a:spcBef>
              <a:buAutoNum type="arabicPeriod"/>
            </a:pPr>
            <a:r>
              <a:rPr lang="en-US" sz="2500" u="none" spc="14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Services expose the Pods to users</a:t>
            </a:r>
            <a:endParaRPr lang="en-US" sz="2500" u="none" spc="149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>
              <a:lnSpc>
                <a:spcPts val="3375"/>
              </a:lnSpc>
              <a:spcBef>
                <a:spcPct val="0"/>
              </a:spcBef>
            </a:pPr>
            <a:r>
              <a:rPr lang="en-US" sz="2500" u="none" spc="14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Example Scenario:</a:t>
            </a:r>
            <a:endParaRPr lang="en-US" sz="2500" u="none" spc="149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>
              <a:lnSpc>
                <a:spcPts val="3375"/>
              </a:lnSpc>
              <a:spcBef>
                <a:spcPct val="0"/>
              </a:spcBef>
            </a:pPr>
            <a:r>
              <a:rPr lang="en-US" sz="2500" u="none" spc="14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You deploy an online store:</a:t>
            </a:r>
            <a:endParaRPr lang="en-US" sz="2500" u="none" spc="149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539750" lvl="1" indent="-269875" algn="l">
              <a:lnSpc>
                <a:spcPts val="3375"/>
              </a:lnSpc>
              <a:spcBef>
                <a:spcPct val="0"/>
              </a:spcBef>
              <a:buFont typeface="Arial" panose="020B0604020202090204"/>
              <a:buChar char="•"/>
            </a:pPr>
            <a:r>
              <a:rPr lang="en-US" sz="2500" u="none" spc="14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Pods → run the backend</a:t>
            </a:r>
            <a:endParaRPr lang="en-US" sz="2500" u="none" spc="149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539750" lvl="1" indent="-269875" algn="l">
              <a:lnSpc>
                <a:spcPts val="3375"/>
              </a:lnSpc>
              <a:spcBef>
                <a:spcPct val="0"/>
              </a:spcBef>
              <a:buFont typeface="Arial" panose="020B0604020202090204"/>
              <a:buChar char="•"/>
            </a:pPr>
            <a:r>
              <a:rPr lang="en-US" sz="2500" u="none" spc="14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Deployment → maintains 5 backend Pods</a:t>
            </a:r>
            <a:endParaRPr lang="en-US" sz="2500" u="none" spc="149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539750" lvl="1" indent="-269875" algn="l">
              <a:lnSpc>
                <a:spcPts val="3375"/>
              </a:lnSpc>
              <a:spcBef>
                <a:spcPct val="0"/>
              </a:spcBef>
              <a:buFont typeface="Arial" panose="020B0604020202090204"/>
              <a:buChar char="•"/>
            </a:pPr>
            <a:r>
              <a:rPr lang="en-US" sz="2500" u="none" spc="14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Service → LoadBalancer exposes API to users</a:t>
            </a:r>
            <a:endParaRPr lang="en-US" sz="2500" u="none" spc="149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>
              <a:lnSpc>
                <a:spcPts val="3375"/>
              </a:lnSpc>
              <a:spcBef>
                <a:spcPct val="0"/>
              </a:spcBef>
            </a:pPr>
            <a:endParaRPr lang="en-US" sz="2500" u="none" spc="149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329398" y="8614893"/>
            <a:ext cx="4899948" cy="3344214"/>
          </a:xfrm>
          <a:custGeom>
            <a:avLst/>
            <a:gdLst/>
            <a:ahLst/>
            <a:cxnLst/>
            <a:rect l="l" t="t" r="r" b="b"/>
            <a:pathLst>
              <a:path w="4899948" h="3344214">
                <a:moveTo>
                  <a:pt x="0" y="0"/>
                </a:moveTo>
                <a:lnTo>
                  <a:pt x="4899947" y="0"/>
                </a:lnTo>
                <a:lnTo>
                  <a:pt x="4899947" y="3344214"/>
                </a:lnTo>
                <a:lnTo>
                  <a:pt x="0" y="3344214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6030709" y="9258300"/>
            <a:ext cx="3059829" cy="751049"/>
          </a:xfrm>
          <a:custGeom>
            <a:avLst/>
            <a:gdLst/>
            <a:ahLst/>
            <a:cxnLst/>
            <a:rect l="l" t="t" r="r" b="b"/>
            <a:pathLst>
              <a:path w="3059829" h="751049">
                <a:moveTo>
                  <a:pt x="0" y="0"/>
                </a:moveTo>
                <a:lnTo>
                  <a:pt x="3059829" y="0"/>
                </a:lnTo>
                <a:lnTo>
                  <a:pt x="3059829" y="751049"/>
                </a:lnTo>
                <a:lnTo>
                  <a:pt x="0" y="75104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4215205" y="8540136"/>
            <a:ext cx="4602314" cy="3618569"/>
          </a:xfrm>
          <a:custGeom>
            <a:avLst/>
            <a:gdLst/>
            <a:ahLst/>
            <a:cxnLst/>
            <a:rect l="l" t="t" r="r" b="b"/>
            <a:pathLst>
              <a:path w="4602314" h="3618569">
                <a:moveTo>
                  <a:pt x="0" y="0"/>
                </a:moveTo>
                <a:lnTo>
                  <a:pt x="4602314" y="0"/>
                </a:lnTo>
                <a:lnTo>
                  <a:pt x="4602314" y="3618570"/>
                </a:lnTo>
                <a:lnTo>
                  <a:pt x="0" y="361857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Freeform 5"/>
          <p:cNvSpPr/>
          <p:nvPr/>
        </p:nvSpPr>
        <p:spPr>
          <a:xfrm>
            <a:off x="-674156" y="-1072630"/>
            <a:ext cx="4899948" cy="3068592"/>
          </a:xfrm>
          <a:custGeom>
            <a:avLst/>
            <a:gdLst/>
            <a:ahLst/>
            <a:cxnLst/>
            <a:rect l="l" t="t" r="r" b="b"/>
            <a:pathLst>
              <a:path w="4899948" h="3068592">
                <a:moveTo>
                  <a:pt x="0" y="0"/>
                </a:moveTo>
                <a:lnTo>
                  <a:pt x="4899948" y="0"/>
                </a:lnTo>
                <a:lnTo>
                  <a:pt x="4899948" y="3068592"/>
                </a:lnTo>
                <a:lnTo>
                  <a:pt x="0" y="306859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Freeform 6"/>
          <p:cNvSpPr/>
          <p:nvPr/>
        </p:nvSpPr>
        <p:spPr>
          <a:xfrm>
            <a:off x="12686214" y="-2578193"/>
            <a:ext cx="4292424" cy="3870986"/>
          </a:xfrm>
          <a:custGeom>
            <a:avLst/>
            <a:gdLst/>
            <a:ahLst/>
            <a:cxnLst/>
            <a:rect l="l" t="t" r="r" b="b"/>
            <a:pathLst>
              <a:path w="4292424" h="3870986">
                <a:moveTo>
                  <a:pt x="0" y="0"/>
                </a:moveTo>
                <a:lnTo>
                  <a:pt x="4292424" y="0"/>
                </a:lnTo>
                <a:lnTo>
                  <a:pt x="4292424" y="3870986"/>
                </a:lnTo>
                <a:lnTo>
                  <a:pt x="0" y="387098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7" name="Freeform 7"/>
          <p:cNvSpPr/>
          <p:nvPr/>
        </p:nvSpPr>
        <p:spPr>
          <a:xfrm>
            <a:off x="10138935" y="9258300"/>
            <a:ext cx="4076270" cy="2863579"/>
          </a:xfrm>
          <a:custGeom>
            <a:avLst/>
            <a:gdLst/>
            <a:ahLst/>
            <a:cxnLst/>
            <a:rect l="l" t="t" r="r" b="b"/>
            <a:pathLst>
              <a:path w="4076270" h="2863579">
                <a:moveTo>
                  <a:pt x="0" y="0"/>
                </a:moveTo>
                <a:lnTo>
                  <a:pt x="4076270" y="0"/>
                </a:lnTo>
                <a:lnTo>
                  <a:pt x="4076270" y="2863579"/>
                </a:lnTo>
                <a:lnTo>
                  <a:pt x="0" y="2863579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8" name="Freeform 8"/>
          <p:cNvSpPr/>
          <p:nvPr/>
        </p:nvSpPr>
        <p:spPr>
          <a:xfrm>
            <a:off x="7409323" y="-2700100"/>
            <a:ext cx="5493058" cy="4114800"/>
          </a:xfrm>
          <a:custGeom>
            <a:avLst/>
            <a:gdLst/>
            <a:ahLst/>
            <a:cxnLst/>
            <a:rect l="l" t="t" r="r" b="b"/>
            <a:pathLst>
              <a:path w="5493058" h="4114800">
                <a:moveTo>
                  <a:pt x="0" y="0"/>
                </a:moveTo>
                <a:lnTo>
                  <a:pt x="5493058" y="0"/>
                </a:lnTo>
                <a:lnTo>
                  <a:pt x="54930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9" name="Freeform 9"/>
          <p:cNvSpPr/>
          <p:nvPr/>
        </p:nvSpPr>
        <p:spPr>
          <a:xfrm rot="4747568">
            <a:off x="-2972342" y="3665317"/>
            <a:ext cx="4896097" cy="2735694"/>
          </a:xfrm>
          <a:custGeom>
            <a:avLst/>
            <a:gdLst/>
            <a:ahLst/>
            <a:cxnLst/>
            <a:rect l="l" t="t" r="r" b="b"/>
            <a:pathLst>
              <a:path w="4896097" h="2735694">
                <a:moveTo>
                  <a:pt x="0" y="0"/>
                </a:moveTo>
                <a:lnTo>
                  <a:pt x="4896097" y="0"/>
                </a:lnTo>
                <a:lnTo>
                  <a:pt x="4896097" y="2735694"/>
                </a:lnTo>
                <a:lnTo>
                  <a:pt x="0" y="2735694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0" name="Freeform 10"/>
          <p:cNvSpPr/>
          <p:nvPr/>
        </p:nvSpPr>
        <p:spPr>
          <a:xfrm>
            <a:off x="4831481" y="-1626507"/>
            <a:ext cx="2892762" cy="2919301"/>
          </a:xfrm>
          <a:custGeom>
            <a:avLst/>
            <a:gdLst/>
            <a:ahLst/>
            <a:cxnLst/>
            <a:rect l="l" t="t" r="r" b="b"/>
            <a:pathLst>
              <a:path w="2892762" h="2919301">
                <a:moveTo>
                  <a:pt x="0" y="0"/>
                </a:moveTo>
                <a:lnTo>
                  <a:pt x="2892761" y="0"/>
                </a:lnTo>
                <a:lnTo>
                  <a:pt x="2892761" y="2919300"/>
                </a:lnTo>
                <a:lnTo>
                  <a:pt x="0" y="2919300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1" name="Freeform 11"/>
          <p:cNvSpPr/>
          <p:nvPr/>
        </p:nvSpPr>
        <p:spPr>
          <a:xfrm>
            <a:off x="17259300" y="2262342"/>
            <a:ext cx="3575541" cy="3575541"/>
          </a:xfrm>
          <a:custGeom>
            <a:avLst/>
            <a:gdLst/>
            <a:ahLst/>
            <a:cxnLst/>
            <a:rect l="l" t="t" r="r" b="b"/>
            <a:pathLst>
              <a:path w="3575541" h="3575541">
                <a:moveTo>
                  <a:pt x="0" y="0"/>
                </a:moveTo>
                <a:lnTo>
                  <a:pt x="3575541" y="0"/>
                </a:lnTo>
                <a:lnTo>
                  <a:pt x="3575541" y="3575541"/>
                </a:lnTo>
                <a:lnTo>
                  <a:pt x="0" y="3575541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2" name="Freeform 12"/>
          <p:cNvSpPr/>
          <p:nvPr/>
        </p:nvSpPr>
        <p:spPr>
          <a:xfrm>
            <a:off x="2570549" y="9093737"/>
            <a:ext cx="2587020" cy="2386526"/>
          </a:xfrm>
          <a:custGeom>
            <a:avLst/>
            <a:gdLst/>
            <a:ahLst/>
            <a:cxnLst/>
            <a:rect l="l" t="t" r="r" b="b"/>
            <a:pathLst>
              <a:path w="2587020" h="2386526">
                <a:moveTo>
                  <a:pt x="0" y="0"/>
                </a:moveTo>
                <a:lnTo>
                  <a:pt x="2587020" y="0"/>
                </a:lnTo>
                <a:lnTo>
                  <a:pt x="2587020" y="2386526"/>
                </a:lnTo>
                <a:lnTo>
                  <a:pt x="0" y="2386526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3" name="Freeform 13"/>
          <p:cNvSpPr/>
          <p:nvPr/>
        </p:nvSpPr>
        <p:spPr>
          <a:xfrm rot="-5282649">
            <a:off x="16440369" y="6970869"/>
            <a:ext cx="3382987" cy="1154444"/>
          </a:xfrm>
          <a:custGeom>
            <a:avLst/>
            <a:gdLst/>
            <a:ahLst/>
            <a:cxnLst/>
            <a:rect l="l" t="t" r="r" b="b"/>
            <a:pathLst>
              <a:path w="3382987" h="1154444">
                <a:moveTo>
                  <a:pt x="0" y="0"/>
                </a:moveTo>
                <a:lnTo>
                  <a:pt x="3382987" y="0"/>
                </a:lnTo>
                <a:lnTo>
                  <a:pt x="3382987" y="1154445"/>
                </a:lnTo>
                <a:lnTo>
                  <a:pt x="0" y="1154445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4" name="Freeform 14"/>
          <p:cNvSpPr/>
          <p:nvPr/>
        </p:nvSpPr>
        <p:spPr>
          <a:xfrm>
            <a:off x="16978638" y="-642644"/>
            <a:ext cx="3104522" cy="3342688"/>
          </a:xfrm>
          <a:custGeom>
            <a:avLst/>
            <a:gdLst/>
            <a:ahLst/>
            <a:cxnLst/>
            <a:rect l="l" t="t" r="r" b="b"/>
            <a:pathLst>
              <a:path w="3104522" h="3342688">
                <a:moveTo>
                  <a:pt x="0" y="0"/>
                </a:moveTo>
                <a:lnTo>
                  <a:pt x="3104522" y="0"/>
                </a:lnTo>
                <a:lnTo>
                  <a:pt x="3104522" y="3342688"/>
                </a:lnTo>
                <a:lnTo>
                  <a:pt x="0" y="3342688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5" name="TextBox 15"/>
          <p:cNvSpPr txBox="1"/>
          <p:nvPr/>
        </p:nvSpPr>
        <p:spPr>
          <a:xfrm>
            <a:off x="3674527" y="3019867"/>
            <a:ext cx="10910396" cy="3364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700"/>
              </a:lnSpc>
            </a:pPr>
            <a:r>
              <a:rPr lang="en-US" sz="14595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Thank you very much!</a:t>
            </a:r>
            <a:endParaRPr lang="en-US" sz="14595" b="1">
              <a:solidFill>
                <a:srgbClr val="000000"/>
              </a:solidFill>
              <a:latin typeface="DM Sans Bold"/>
              <a:ea typeface="DM Sans Bold"/>
              <a:cs typeface="DM Sans Bold"/>
              <a:sym typeface="DM Sans Bold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2892</Words>
  <Application>WPS Presentation</Application>
  <PresentationFormat>On-screen Show (4:3)</PresentationFormat>
  <Paragraphs>135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22" baseType="lpstr">
      <vt:lpstr>Arial</vt:lpstr>
      <vt:lpstr>SimSun</vt:lpstr>
      <vt:lpstr>Wingdings</vt:lpstr>
      <vt:lpstr>DM Sans Bold</vt:lpstr>
      <vt:lpstr>Thonburi</vt:lpstr>
      <vt:lpstr>DM Sans</vt:lpstr>
      <vt:lpstr>Arial</vt:lpstr>
      <vt:lpstr>Microsoft YaHei</vt:lpstr>
      <vt:lpstr>汉仪旗黑</vt:lpstr>
      <vt:lpstr>Arial Unicode MS</vt:lpstr>
      <vt:lpstr>Calibri</vt:lpstr>
      <vt:lpstr>Helvetica Neue</vt:lpstr>
      <vt:lpstr>Apple Color Emoji</vt:lpstr>
      <vt:lpstr>宋体-简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Kubernetes</dc:title>
  <dc:creator/>
  <cp:lastModifiedBy>Shami verma</cp:lastModifiedBy>
  <cp:revision>4</cp:revision>
  <dcterms:created xsi:type="dcterms:W3CDTF">2025-11-20T17:05:18Z</dcterms:created>
  <dcterms:modified xsi:type="dcterms:W3CDTF">2025-11-20T17:05:18Z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927E732FDAE56B7B9C111F69C4FAE75E_43</vt:lpwstr>
  </property>
  <property fmtid="{D5CDD505-2E9C-101B-9397-08002B2CF9AE}" pid="3" name="KSOProductBuildVer">
    <vt:lpwstr>1033-12.1.23143.23143</vt:lpwstr>
  </property>
</Properties>
</file>